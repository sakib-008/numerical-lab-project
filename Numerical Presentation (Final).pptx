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9"/>
  </p:notesMasterIdLst>
  <p:sldIdLst>
    <p:sldId id="294" r:id="rId3"/>
    <p:sldId id="296" r:id="rId4"/>
    <p:sldId id="295" r:id="rId5"/>
    <p:sldId id="301" r:id="rId6"/>
    <p:sldId id="256" r:id="rId7"/>
    <p:sldId id="297" r:id="rId8"/>
    <p:sldId id="266" r:id="rId9"/>
    <p:sldId id="267" r:id="rId10"/>
    <p:sldId id="274" r:id="rId11"/>
    <p:sldId id="275" r:id="rId12"/>
    <p:sldId id="298" r:id="rId13"/>
    <p:sldId id="278" r:id="rId14"/>
    <p:sldId id="280" r:id="rId15"/>
    <p:sldId id="299" r:id="rId16"/>
    <p:sldId id="283" r:id="rId17"/>
    <p:sldId id="284" r:id="rId18"/>
    <p:sldId id="292" r:id="rId19"/>
    <p:sldId id="276" r:id="rId20"/>
    <p:sldId id="271" r:id="rId21"/>
    <p:sldId id="285" r:id="rId22"/>
    <p:sldId id="286" r:id="rId23"/>
    <p:sldId id="287" r:id="rId24"/>
    <p:sldId id="289" r:id="rId25"/>
    <p:sldId id="290" r:id="rId26"/>
    <p:sldId id="300" r:id="rId27"/>
    <p:sldId id="291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2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512FB8-99BA-46AB-8D3A-3D7542B8E93D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CC92C2-C328-4794-B093-339E21C080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523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0E29D-D839-2668-94A5-594EF313D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0C5445-3B4D-4DC9-B5A4-C49DC939FF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DC06-2BA4-FCD1-3CE7-0A8345EB97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30BB4D-E176-BE2A-5F50-2DAA830DB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CC92C2-C328-4794-B093-339E21C080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794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A54D3-CF46-B447-6DDC-C8534718F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84E228-4B6B-6E01-24EC-E2A747A19D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81DC1A-B0D3-A35A-E065-456C029E6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B7D59-9D3D-D2E2-98AB-26FDFEF75E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CC92C2-C328-4794-B093-339E21C080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6839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35818-FF25-5538-4827-B75D7B550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71DBD-2FC7-FF75-FD95-116B5023AB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90C68D-FF1F-F845-05C1-DBEC4237B0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387BC9-E829-5A12-D9BD-43151B01AD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CC92C2-C328-4794-B093-339E21C0805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0948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5ECFF-3D4D-7F14-83E7-30CD54281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EE912C-F1A3-CF2E-62B8-64604ECB1A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D64CAE-62B9-9F63-00EC-AA713043C0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65CA03-7E49-9AD5-38E5-37E859BDBA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CC92C2-C328-4794-B093-339E21C0805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1036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D8306-CA57-15A7-5346-92A7E6F99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6A0925-81D6-87B2-0C1C-72A205273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5D11D0-AED3-752E-F6C2-80F9A3153C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96D58-A72A-4CD0-E056-24060C104C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CC92C2-C328-4794-B093-339E21C0805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7991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F66B0-8E35-61B7-6974-B519ADC8F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0CCBA-5BF5-E85A-0EED-F557AF66AF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470F07-0308-A762-DE7C-5E6BA83F74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B5629-2C85-2FCF-AA06-7B24B4E25F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CC92C2-C328-4794-B093-339E21C0805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9058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1A1881-2A93-4013-8041-545AC1F0C32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105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1A1881-2A93-4013-8041-545AC1F0C32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1056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7AA82-F88F-1712-6CC9-0F5413C7FC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2F80BA-7692-3C0F-496E-EB3F2AB422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0F3D3-FAB8-B505-02E0-8E1298364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9C229-453F-4394-B51A-797A3367E16E}" type="datetime1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B6FA49-E761-5710-F1BB-BF02E02BC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D2C2E-8871-3E7D-F8D1-8A1F6DC90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D01A0-D233-4FA1-8698-D063092A8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26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EA54B-5D7B-D15E-50F5-25AD3AEB4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27256D-8CAD-C71A-7A45-F9680DEAA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A4669A-C3CF-6F46-20E4-0C2CAC7E9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5081B-8486-491C-9F42-938F6E0917DF}" type="datetime1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AC289B-50E1-E2BF-5B46-B294CA405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B2ADE-4520-57EF-1BC3-22B3B67A5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D01A0-D233-4FA1-8698-D063092A8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060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94946-2DB8-ACA1-5B13-D94C2697A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6D362E-EC15-CAFB-B5E5-867743597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89EEA-59A4-418A-B3AA-2426CEF9E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7E350-EC19-40F5-A611-4A292D903368}" type="datetime1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79FDA5-0C80-5CB2-28A5-67E94A8B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23AA53-3766-4E58-3342-451893F33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D01A0-D233-4FA1-8698-D063092A8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6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5D5C6-337D-9F69-F2BB-76D5D4656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95C99-2340-68CF-D781-6D259AE69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08026B-282C-4DCF-927D-8A724597B7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CF534A-26BD-66B8-74D8-4B25DCA0B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A4CD2-C87C-4784-B967-1E8B4889ED69}" type="datetime1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761547-078C-1D34-973A-0CA4E5682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37D4A-9061-2C10-72D7-292A72B9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D01A0-D233-4FA1-8698-D063092A8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210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0D1B-1929-6023-FEF6-52F89154F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20528C-E5EA-D9E5-5712-5163071067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F8C893-50AF-63ED-3F3B-8BC389489F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77942B-5DE9-6374-DDC4-05F67F9A7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2C2F63-EEA7-CBFF-8666-64E84483E7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64F3BC-4595-04F4-5B09-234485DF9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8D454-0E49-4A3F-84DE-00DC09A8E53C}" type="datetime1">
              <a:rPr lang="en-US" smtClean="0"/>
              <a:t>12/21/2025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7E94C3-4E1F-4C85-8D31-008498884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27BE60-BFA9-C764-A94E-5FAD84465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D01A0-D233-4FA1-8698-D063092A8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98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98308-C0DF-5641-D55D-5AE37935D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309599-AFAA-EBC7-CE91-7CCA06170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13A14-D600-4F3E-9098-79CC3C64E988}" type="datetime1">
              <a:rPr lang="en-US" smtClean="0"/>
              <a:t>12/21/2025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A38691-033B-1352-E30D-FA802C98A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F37551-6854-94D6-6D17-4A613CCFF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D01A0-D233-4FA1-8698-D063092A8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790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F7FD56-6F88-9322-4CDC-10BC2D3E8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1B3B84-90E8-45D9-83F3-996CD30F6243}" type="datetime1">
              <a:rPr lang="en-US" smtClean="0"/>
              <a:t>12/21/2025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BA04A0-153B-5802-B09B-69B07C825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BFAED-0DFF-3E2C-99E8-4D35AA8F4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D01A0-D233-4FA1-8698-D063092A8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67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D3F45-1EF7-E7D6-18EF-7C8219375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D84AA-59EC-C863-2250-CF96239CD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3658E0-D4B7-69FF-7CEA-D114D7DBAE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C657C-F765-D938-B73A-6EA02AA3E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65D64-1C9F-480E-BC3E-FFEB362EB348}" type="datetime1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D7811B-F6D0-C82E-22CD-56215ABFC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79C914-71CE-41DC-B8B5-E6F61AB72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D01A0-D233-4FA1-8698-D063092A8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419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3263B-DB89-82ED-D247-C98E53F13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D224FA-893E-7AA9-E6D9-5F04B1D476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52A942-2BB3-50A9-05E4-504A1DBC52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37237D-9C94-5352-C7EF-B3D0BDD7D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6C942-1682-4FF9-8694-70746DBEC4AF}" type="datetime1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54080-6BFD-F3BC-058C-297DE60D9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35AF-CB8F-9549-C3CD-7BA39CA80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D01A0-D233-4FA1-8698-D063092A8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721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BE803-8F18-5062-8411-F3BCA43AE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038848-9C9A-9D22-9C6E-CAA23C473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83FA62-C29D-DF91-1AFB-CFE4A08A4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7E978-2881-47AF-ACC3-08FF7650973B}" type="datetime1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92364-223D-0F7A-1CE3-421C26F10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AC904-9E81-F016-A0F6-B0AE10BDC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D01A0-D233-4FA1-8698-D063092A8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7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582CF4-BDF7-AB6B-B162-E4CC8924E3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D2D7ED-4953-7B04-B293-792C9EED66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1FFC4D-DF77-70FB-260A-13EAD9423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A62DE-1B98-4A03-91FB-88B144514278}" type="datetime1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D04B7-A693-69DA-D1ED-496D22CF6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F08AF-2C76-B82C-9FD0-C59D6468E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D01A0-D233-4FA1-8698-D063092A8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157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BCFA3-515C-429A-B169-7B62C7816B68}" type="datetime1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3513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F53DBF-7995-4A5F-BA67-5743F2B68CF1}" type="datetime1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395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E9EDF-BB1A-4A42-BDE1-3558E5001E91}" type="datetime1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9543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D6FCB-75F4-4237-9562-45954B3877AD}" type="datetime1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232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3EEBE1-0B0E-4E67-836A-FDBBF7812AAB}" type="datetime1">
              <a:rPr lang="en-US" smtClean="0"/>
              <a:t>12/21/2025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9895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6D62-A79A-442D-858F-09CA66CADAEC}" type="datetime1">
              <a:rPr lang="en-US" smtClean="0"/>
              <a:t>12/21/2025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1071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6D2F2-CBC9-419A-A049-BA72D00D648B}" type="datetime1">
              <a:rPr lang="en-US" smtClean="0"/>
              <a:t>12/21/2025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07211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030C5-62E2-4D2D-B4E6-3A3F61A30DD8}" type="datetime1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1908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E09CB-D813-457C-90C1-12D0DC69DE88}" type="datetime1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020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A7B9F-6C84-4BD3-A7B7-82BD40CCBC23}" type="datetime1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1930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4A07E-35D4-422F-8AE9-44760155F424}" type="datetime1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141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026329-A3DD-3676-B664-3ABDF18D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184B4B-A1A3-698A-9E5E-2F8D4F8EE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A1BE2D-804B-D990-F713-09A0978491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396BA-3B73-484D-B4A2-531CA9AF6E7C}" type="datetime1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0726B-1312-6ADB-0608-4DE5A297DB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B72134-8EA3-B61E-EBB1-E46C4D252F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1D01A0-D233-4FA1-8698-D063092A8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884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66022D-4E37-41BD-AB94-591BED3BB92B}" type="datetime1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075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4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4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kib-008/Numerical-Lab-Project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63204-637A-B9FA-8C77-B78D55AE0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E695527-BB9B-9D94-76C9-CCEA414302D9}"/>
              </a:ext>
            </a:extLst>
          </p:cNvPr>
          <p:cNvGrpSpPr/>
          <p:nvPr/>
        </p:nvGrpSpPr>
        <p:grpSpPr>
          <a:xfrm>
            <a:off x="6197600" y="0"/>
            <a:ext cx="5994400" cy="6858000"/>
            <a:chOff x="0" y="0"/>
            <a:chExt cx="1393034" cy="1593725"/>
          </a:xfrm>
        </p:grpSpPr>
        <p:sp>
          <p:nvSpPr>
            <p:cNvPr id="8" name="Freeform 3">
              <a:extLst>
                <a:ext uri="{FF2B5EF4-FFF2-40B4-BE49-F238E27FC236}">
                  <a16:creationId xmlns:a16="http://schemas.microsoft.com/office/drawing/2014/main" id="{B38C6BF0-34CA-E439-E957-080DBD1863D9}"/>
                </a:ext>
              </a:extLst>
            </p:cNvPr>
            <p:cNvSpPr/>
            <p:nvPr/>
          </p:nvSpPr>
          <p:spPr>
            <a:xfrm>
              <a:off x="0" y="0"/>
              <a:ext cx="1393034" cy="1593725"/>
            </a:xfrm>
            <a:custGeom>
              <a:avLst/>
              <a:gdLst/>
              <a:ahLst/>
              <a:cxnLst/>
              <a:rect l="l" t="t" r="r" b="b"/>
              <a:pathLst>
                <a:path w="1393034" h="1593725">
                  <a:moveTo>
                    <a:pt x="0" y="0"/>
                  </a:moveTo>
                  <a:lnTo>
                    <a:pt x="1393034" y="0"/>
                  </a:lnTo>
                  <a:lnTo>
                    <a:pt x="1393034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3"/>
              <a:stretch>
                <a:fillRect t="-378" b="-37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5">
            <a:extLst>
              <a:ext uri="{FF2B5EF4-FFF2-40B4-BE49-F238E27FC236}">
                <a16:creationId xmlns:a16="http://schemas.microsoft.com/office/drawing/2014/main" id="{27014C17-984E-71CE-1685-2BC067C2336A}"/>
              </a:ext>
            </a:extLst>
          </p:cNvPr>
          <p:cNvGrpSpPr/>
          <p:nvPr/>
        </p:nvGrpSpPr>
        <p:grpSpPr>
          <a:xfrm>
            <a:off x="263144" y="464313"/>
            <a:ext cx="6522720" cy="4224208"/>
            <a:chOff x="-381000" y="-3876038"/>
            <a:chExt cx="13045440" cy="8448417"/>
          </a:xfrm>
        </p:grpSpPr>
        <p:sp>
          <p:nvSpPr>
            <p:cNvPr id="13" name="TextBox 6">
              <a:extLst>
                <a:ext uri="{FF2B5EF4-FFF2-40B4-BE49-F238E27FC236}">
                  <a16:creationId xmlns:a16="http://schemas.microsoft.com/office/drawing/2014/main" id="{A55AA8FB-B769-D717-7971-684CF9F4A4B0}"/>
                </a:ext>
              </a:extLst>
            </p:cNvPr>
            <p:cNvSpPr txBox="1"/>
            <p:nvPr/>
          </p:nvSpPr>
          <p:spPr>
            <a:xfrm>
              <a:off x="-218440" y="4008121"/>
              <a:ext cx="10871200" cy="56425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239"/>
                </a:lnSpc>
                <a:spcBef>
                  <a:spcPct val="0"/>
                </a:spcBef>
              </a:pPr>
              <a:r>
                <a:rPr lang="en-US" sz="1866" dirty="0">
                  <a:solidFill>
                    <a:srgbClr val="4A4A4A"/>
                  </a:solidFill>
                  <a:latin typeface="HK Grotesk"/>
                  <a:ea typeface="HK Grotesk"/>
                  <a:cs typeface="HK Grotesk"/>
                  <a:sym typeface="HK Grotesk"/>
                </a:rPr>
                <a:t>Roll: 2207007, 2207008, 2207009</a:t>
              </a:r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8DA59D41-49B6-D31D-3F05-543506ADD7DE}"/>
                </a:ext>
              </a:extLst>
            </p:cNvPr>
            <p:cNvSpPr txBox="1"/>
            <p:nvPr/>
          </p:nvSpPr>
          <p:spPr>
            <a:xfrm>
              <a:off x="-381000" y="-3876038"/>
              <a:ext cx="13045440" cy="738663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9600"/>
                </a:lnSpc>
              </a:pPr>
              <a:r>
                <a:rPr lang="en-US" sz="9600" spc="-192" dirty="0">
                  <a:solidFill>
                    <a:srgbClr val="1A73E8"/>
                  </a:solidFill>
                  <a:latin typeface="Noto Serif Display ExtraCondensed Light"/>
                  <a:ea typeface="Noto Serif Display ExtraCondensed Light"/>
                  <a:cs typeface="Noto Serif Display ExtraCondensed Light"/>
                  <a:sym typeface="Noto Serif Display ExtraCondensed Light"/>
                </a:rPr>
                <a:t>Numerical Methods Project </a:t>
              </a:r>
            </a:p>
          </p:txBody>
        </p:sp>
      </p:grpSp>
      <p:sp>
        <p:nvSpPr>
          <p:cNvPr id="6" name="Slide Number Placeholder 18">
            <a:extLst>
              <a:ext uri="{FF2B5EF4-FFF2-40B4-BE49-F238E27FC236}">
                <a16:creationId xmlns:a16="http://schemas.microsoft.com/office/drawing/2014/main" id="{C9B37EA8-F069-1B78-2F1A-DC25B1CFA039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4054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1</a:t>
            </a:fld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0811118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88179-DDE0-B6E6-94ED-B66ECD869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EBDC88C-787F-A855-5566-26194E27DD36}"/>
              </a:ext>
            </a:extLst>
          </p:cNvPr>
          <p:cNvGrpSpPr/>
          <p:nvPr/>
        </p:nvGrpSpPr>
        <p:grpSpPr>
          <a:xfrm>
            <a:off x="6197600" y="0"/>
            <a:ext cx="5994400" cy="6858000"/>
            <a:chOff x="0" y="0"/>
            <a:chExt cx="1393034" cy="159372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67D0806-82E4-C41C-4061-9A99FF36A12E}"/>
                </a:ext>
              </a:extLst>
            </p:cNvPr>
            <p:cNvSpPr/>
            <p:nvPr/>
          </p:nvSpPr>
          <p:spPr>
            <a:xfrm>
              <a:off x="0" y="0"/>
              <a:ext cx="1393034" cy="1593725"/>
            </a:xfrm>
            <a:custGeom>
              <a:avLst/>
              <a:gdLst/>
              <a:ahLst/>
              <a:cxnLst/>
              <a:rect l="l" t="t" r="r" b="b"/>
              <a:pathLst>
                <a:path w="1393034" h="1593725">
                  <a:moveTo>
                    <a:pt x="0" y="0"/>
                  </a:moveTo>
                  <a:lnTo>
                    <a:pt x="1393034" y="0"/>
                  </a:lnTo>
                  <a:lnTo>
                    <a:pt x="1393034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t="-378" b="-37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11E4C0F-BF59-C190-8311-4A4584D24B99}"/>
              </a:ext>
            </a:extLst>
          </p:cNvPr>
          <p:cNvGrpSpPr/>
          <p:nvPr/>
        </p:nvGrpSpPr>
        <p:grpSpPr>
          <a:xfrm>
            <a:off x="254000" y="482601"/>
            <a:ext cx="6522720" cy="4788465"/>
            <a:chOff x="-381000" y="-3876038"/>
            <a:chExt cx="13045440" cy="9576931"/>
          </a:xfrm>
        </p:grpSpPr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DB01E72A-6577-30EB-F924-8D3E4C27076D}"/>
                </a:ext>
              </a:extLst>
            </p:cNvPr>
            <p:cNvSpPr txBox="1"/>
            <p:nvPr/>
          </p:nvSpPr>
          <p:spPr>
            <a:xfrm>
              <a:off x="-218440" y="4008121"/>
              <a:ext cx="10871200" cy="169277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239"/>
                </a:lnSpc>
                <a:spcBef>
                  <a:spcPct val="0"/>
                </a:spcBef>
              </a:pPr>
              <a:r>
                <a:rPr lang="en-US" sz="1866" dirty="0">
                  <a:solidFill>
                    <a:srgbClr val="4A4A4A"/>
                  </a:solidFill>
                  <a:latin typeface="HK Grotesk"/>
                  <a:ea typeface="HK Grotesk"/>
                  <a:cs typeface="HK Grotesk"/>
                  <a:sym typeface="HK Grotesk"/>
                </a:rPr>
                <a:t>Name: Md Fahim Hossen</a:t>
              </a:r>
            </a:p>
            <a:p>
              <a:pPr>
                <a:lnSpc>
                  <a:spcPts val="2239"/>
                </a:lnSpc>
                <a:spcBef>
                  <a:spcPct val="0"/>
                </a:spcBef>
              </a:pPr>
              <a:r>
                <a:rPr lang="en-US" sz="1866" dirty="0">
                  <a:solidFill>
                    <a:srgbClr val="4A4A4A"/>
                  </a:solidFill>
                  <a:latin typeface="HK Grotesk"/>
                  <a:ea typeface="HK Grotesk"/>
                  <a:cs typeface="HK Grotesk"/>
                  <a:sym typeface="HK Grotesk"/>
                </a:rPr>
                <a:t>Roll: 2207007</a:t>
              </a:r>
            </a:p>
            <a:p>
              <a:pPr>
                <a:lnSpc>
                  <a:spcPts val="2239"/>
                </a:lnSpc>
                <a:spcBef>
                  <a:spcPct val="0"/>
                </a:spcBef>
              </a:pPr>
              <a:r>
                <a:rPr lang="en-US" sz="1866" dirty="0">
                  <a:solidFill>
                    <a:srgbClr val="4A4A4A"/>
                  </a:solidFill>
                  <a:latin typeface="HK Grotesk"/>
                  <a:ea typeface="HK Grotesk"/>
                  <a:cs typeface="HK Grotesk"/>
                  <a:sym typeface="HK Grotesk"/>
                </a:rPr>
                <a:t>Role: Folder structure and slide creation</a:t>
              </a: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8CAD7B8E-D436-BCE5-DAFC-05EF5AD2C99E}"/>
                </a:ext>
              </a:extLst>
            </p:cNvPr>
            <p:cNvSpPr txBox="1"/>
            <p:nvPr/>
          </p:nvSpPr>
          <p:spPr>
            <a:xfrm>
              <a:off x="-381000" y="-3876038"/>
              <a:ext cx="13045440" cy="738663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9600"/>
                </a:lnSpc>
              </a:pPr>
              <a:r>
                <a:rPr lang="en-US" sz="9600" spc="-192" dirty="0">
                  <a:solidFill>
                    <a:srgbClr val="1A73E8"/>
                  </a:solidFill>
                  <a:latin typeface="Noto Serif Display ExtraCondensed Light"/>
                  <a:ea typeface="Noto Serif Display ExtraCondensed Light"/>
                  <a:cs typeface="Noto Serif Display ExtraCondensed Light"/>
                  <a:sym typeface="Noto Serif Display ExtraCondensed Light"/>
                </a:rPr>
                <a:t>Numerical Methods Project </a:t>
              </a:r>
            </a:p>
          </p:txBody>
        </p:sp>
      </p:grpSp>
      <p:sp>
        <p:nvSpPr>
          <p:cNvPr id="10" name="Slide Number Placeholder 18">
            <a:extLst>
              <a:ext uri="{FF2B5EF4-FFF2-40B4-BE49-F238E27FC236}">
                <a16:creationId xmlns:a16="http://schemas.microsoft.com/office/drawing/2014/main" id="{5F7AD10F-BC21-27A7-BE8C-9EAF9A89F945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4054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2</a:t>
            </a:fld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752721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F6C6BD-637E-1174-213B-FB924C733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A53E6F24-27E6-818A-BEFC-59D5CA768661}"/>
              </a:ext>
            </a:extLst>
          </p:cNvPr>
          <p:cNvSpPr txBox="1"/>
          <p:nvPr/>
        </p:nvSpPr>
        <p:spPr>
          <a:xfrm>
            <a:off x="269240" y="999430"/>
            <a:ext cx="3632200" cy="24622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6400"/>
              </a:lnSpc>
            </a:pPr>
            <a:r>
              <a:rPr lang="en-US" sz="5400" spc="-128" dirty="0">
                <a:solidFill>
                  <a:srgbClr val="1A73E8"/>
                </a:solidFill>
                <a:latin typeface="Noto Serif Display ExtraCondensed Light"/>
                <a:ea typeface="Noto Serif Display ExtraCondensed Light"/>
                <a:cs typeface="Noto Serif Display ExtraCondensed Light"/>
                <a:sym typeface="Noto Serif Display ExtraCondensed Light"/>
              </a:rPr>
              <a:t>My contribution to the project</a:t>
            </a:r>
          </a:p>
        </p:txBody>
      </p:sp>
      <p:sp>
        <p:nvSpPr>
          <p:cNvPr id="15" name="AutoShape 15">
            <a:extLst>
              <a:ext uri="{FF2B5EF4-FFF2-40B4-BE49-F238E27FC236}">
                <a16:creationId xmlns:a16="http://schemas.microsoft.com/office/drawing/2014/main" id="{344CE7A5-97BC-3795-E9E0-0B5D31AF615E}"/>
              </a:ext>
            </a:extLst>
          </p:cNvPr>
          <p:cNvSpPr/>
          <p:nvPr/>
        </p:nvSpPr>
        <p:spPr>
          <a:xfrm>
            <a:off x="0" y="444500"/>
            <a:ext cx="12192000" cy="0"/>
          </a:xfrm>
          <a:prstGeom prst="line">
            <a:avLst/>
          </a:prstGeom>
          <a:ln w="19050" cap="flat">
            <a:solidFill>
              <a:srgbClr val="4A4A4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>
            <a:extLst>
              <a:ext uri="{FF2B5EF4-FFF2-40B4-BE49-F238E27FC236}">
                <a16:creationId xmlns:a16="http://schemas.microsoft.com/office/drawing/2014/main" id="{D2F61553-380E-F904-8C5A-979BFC678198}"/>
              </a:ext>
            </a:extLst>
          </p:cNvPr>
          <p:cNvSpPr/>
          <p:nvPr/>
        </p:nvSpPr>
        <p:spPr>
          <a:xfrm>
            <a:off x="0" y="6413500"/>
            <a:ext cx="12192000" cy="0"/>
          </a:xfrm>
          <a:prstGeom prst="line">
            <a:avLst/>
          </a:prstGeom>
          <a:ln w="19050" cap="flat">
            <a:solidFill>
              <a:srgbClr val="4A4A4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E9D3029-B23B-6E17-8F84-9B5C3644F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03" y="3599674"/>
            <a:ext cx="3713737" cy="267579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9D5D6A1-A7B1-E984-FCA7-4CED92894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6232" y="582532"/>
            <a:ext cx="5712594" cy="2992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6531D3-F9C9-3FB6-F489-ED9A037010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6780" y="3165317"/>
            <a:ext cx="1286054" cy="819264"/>
          </a:xfrm>
          <a:prstGeom prst="rect">
            <a:avLst/>
          </a:prstGeom>
        </p:spPr>
      </p:pic>
      <p:grpSp>
        <p:nvGrpSpPr>
          <p:cNvPr id="6" name="Group 9">
            <a:extLst>
              <a:ext uri="{FF2B5EF4-FFF2-40B4-BE49-F238E27FC236}">
                <a16:creationId xmlns:a16="http://schemas.microsoft.com/office/drawing/2014/main" id="{F303C588-14E8-A37B-03C8-D87EF6A91000}"/>
              </a:ext>
            </a:extLst>
          </p:cNvPr>
          <p:cNvGrpSpPr/>
          <p:nvPr/>
        </p:nvGrpSpPr>
        <p:grpSpPr>
          <a:xfrm>
            <a:off x="9074150" y="4025900"/>
            <a:ext cx="2681895" cy="1084213"/>
            <a:chOff x="0" y="0"/>
            <a:chExt cx="5363789" cy="2168428"/>
          </a:xfrm>
        </p:grpSpPr>
        <p:sp>
          <p:nvSpPr>
            <p:cNvPr id="7" name="TextBox 10">
              <a:extLst>
                <a:ext uri="{FF2B5EF4-FFF2-40B4-BE49-F238E27FC236}">
                  <a16:creationId xmlns:a16="http://schemas.microsoft.com/office/drawing/2014/main" id="{59E5BEB3-22D8-673E-9C31-2785B7939C27}"/>
                </a:ext>
              </a:extLst>
            </p:cNvPr>
            <p:cNvSpPr txBox="1"/>
            <p:nvPr/>
          </p:nvSpPr>
          <p:spPr>
            <a:xfrm>
              <a:off x="17090" y="0"/>
              <a:ext cx="5346699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39"/>
                </a:lnSpc>
              </a:pPr>
              <a:r>
                <a:rPr lang="en-US" sz="1866" b="1" dirty="0">
                  <a:solidFill>
                    <a:srgbClr val="4A4A4A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Slide template</a:t>
              </a:r>
            </a:p>
          </p:txBody>
        </p:sp>
        <p:sp>
          <p:nvSpPr>
            <p:cNvPr id="8" name="TextBox 11">
              <a:extLst>
                <a:ext uri="{FF2B5EF4-FFF2-40B4-BE49-F238E27FC236}">
                  <a16:creationId xmlns:a16="http://schemas.microsoft.com/office/drawing/2014/main" id="{7006B979-C2DD-9AAB-0DD6-823E61A1B89A}"/>
                </a:ext>
              </a:extLst>
            </p:cNvPr>
            <p:cNvSpPr txBox="1"/>
            <p:nvPr/>
          </p:nvSpPr>
          <p:spPr>
            <a:xfrm>
              <a:off x="0" y="1193801"/>
              <a:ext cx="5312521" cy="9746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19"/>
                </a:lnSpc>
              </a:pPr>
              <a:r>
                <a:rPr lang="en-US" sz="1600" dirty="0">
                  <a:solidFill>
                    <a:srgbClr val="4A4A4A"/>
                  </a:solidFill>
                  <a:latin typeface="HK Grotesk"/>
                  <a:ea typeface="HK Grotesk"/>
                  <a:cs typeface="HK Grotesk"/>
                  <a:sym typeface="HK Grotesk"/>
                </a:rPr>
                <a:t>Made the planning of slide creating and visuals</a:t>
              </a:r>
            </a:p>
          </p:txBody>
        </p:sp>
      </p:grpSp>
      <p:grpSp>
        <p:nvGrpSpPr>
          <p:cNvPr id="9" name="Group 12">
            <a:extLst>
              <a:ext uri="{FF2B5EF4-FFF2-40B4-BE49-F238E27FC236}">
                <a16:creationId xmlns:a16="http://schemas.microsoft.com/office/drawing/2014/main" id="{16CD7D18-0191-1F4C-CFBF-31D333A1B5D4}"/>
              </a:ext>
            </a:extLst>
          </p:cNvPr>
          <p:cNvGrpSpPr/>
          <p:nvPr/>
        </p:nvGrpSpPr>
        <p:grpSpPr>
          <a:xfrm>
            <a:off x="5238750" y="4025900"/>
            <a:ext cx="2673350" cy="1084213"/>
            <a:chOff x="0" y="0"/>
            <a:chExt cx="5346700" cy="2168428"/>
          </a:xfrm>
        </p:grpSpPr>
        <p:sp>
          <p:nvSpPr>
            <p:cNvPr id="10" name="TextBox 13">
              <a:extLst>
                <a:ext uri="{FF2B5EF4-FFF2-40B4-BE49-F238E27FC236}">
                  <a16:creationId xmlns:a16="http://schemas.microsoft.com/office/drawing/2014/main" id="{39CFD9C8-1A10-B9AE-E3D5-82DC64EDB9D8}"/>
                </a:ext>
              </a:extLst>
            </p:cNvPr>
            <p:cNvSpPr txBox="1"/>
            <p:nvPr/>
          </p:nvSpPr>
          <p:spPr>
            <a:xfrm>
              <a:off x="0" y="0"/>
              <a:ext cx="5346700" cy="5642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39"/>
                </a:lnSpc>
              </a:pPr>
              <a:r>
                <a:rPr lang="en-US" sz="1866" b="1" dirty="0">
                  <a:solidFill>
                    <a:srgbClr val="4A4A4A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Basic Structure</a:t>
              </a:r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AD9085B-DD96-EFBD-2493-AE2FC79FCCED}"/>
                </a:ext>
              </a:extLst>
            </p:cNvPr>
            <p:cNvSpPr txBox="1"/>
            <p:nvPr/>
          </p:nvSpPr>
          <p:spPr>
            <a:xfrm>
              <a:off x="0" y="1193801"/>
              <a:ext cx="5346700" cy="9746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19"/>
                </a:lnSpc>
              </a:pPr>
              <a:r>
                <a:rPr lang="en-US" sz="1600" dirty="0">
                  <a:solidFill>
                    <a:srgbClr val="4A4A4A"/>
                  </a:solidFill>
                  <a:latin typeface="HK Grotesk"/>
                  <a:ea typeface="HK Grotesk"/>
                  <a:cs typeface="HK Grotesk"/>
                  <a:sym typeface="HK Grotesk"/>
                </a:rPr>
                <a:t>Created the basic file and folder structure for the whole project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61BDC84-17AE-45BD-412C-AD84C904652D}"/>
              </a:ext>
            </a:extLst>
          </p:cNvPr>
          <p:cNvSpPr txBox="1"/>
          <p:nvPr/>
        </p:nvSpPr>
        <p:spPr>
          <a:xfrm flipH="1">
            <a:off x="8063977" y="3343648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1.1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B6E1835-7D89-E4F9-CEF2-0E7753F2F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17" name="Slide Number Placeholder 18">
            <a:extLst>
              <a:ext uri="{FF2B5EF4-FFF2-40B4-BE49-F238E27FC236}">
                <a16:creationId xmlns:a16="http://schemas.microsoft.com/office/drawing/2014/main" id="{6D73849C-2BFD-595C-BDF8-ACC6290D68ED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4054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3</a:t>
            </a:fld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42288369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FE5C1-0674-CEC3-710E-7C3EC3E4D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2151BDD-35F5-5344-E7B5-BF149BC549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590" y="-160415"/>
            <a:ext cx="10936820" cy="841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white background with black and white clouds&#10;&#10;AI-generated content may be incorrect.">
            <a:extLst>
              <a:ext uri="{FF2B5EF4-FFF2-40B4-BE49-F238E27FC236}">
                <a16:creationId xmlns:a16="http://schemas.microsoft.com/office/drawing/2014/main" id="{1C469098-6B0B-704F-1AF4-59D4CFB2C6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8812" y="5796200"/>
            <a:ext cx="2012452" cy="733527"/>
          </a:xfrm>
          <a:prstGeom prst="rect">
            <a:avLst/>
          </a:prstGeom>
        </p:spPr>
      </p:pic>
      <p:pic>
        <p:nvPicPr>
          <p:cNvPr id="12" name="Picture 11" descr="A white background with black and white clouds&#10;&#10;AI-generated content may be incorrect.">
            <a:extLst>
              <a:ext uri="{FF2B5EF4-FFF2-40B4-BE49-F238E27FC236}">
                <a16:creationId xmlns:a16="http://schemas.microsoft.com/office/drawing/2014/main" id="{2AE758D4-8D99-77AC-BD86-59EB146412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1381" y="6344261"/>
            <a:ext cx="1333686" cy="3098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87F6D2C-42E8-95E0-713B-1AC94037DD7C}"/>
              </a:ext>
            </a:extLst>
          </p:cNvPr>
          <p:cNvSpPr txBox="1"/>
          <p:nvPr/>
        </p:nvSpPr>
        <p:spPr>
          <a:xfrm flipH="1">
            <a:off x="6096000" y="5793631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1.2</a:t>
            </a:r>
          </a:p>
        </p:txBody>
      </p:sp>
      <p:sp>
        <p:nvSpPr>
          <p:cNvPr id="7" name="Slide Number Placeholder 18">
            <a:extLst>
              <a:ext uri="{FF2B5EF4-FFF2-40B4-BE49-F238E27FC236}">
                <a16:creationId xmlns:a16="http://schemas.microsoft.com/office/drawing/2014/main" id="{9DEE22F3-53B1-F87F-8C7A-56F77EE33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6748" y="6401483"/>
            <a:ext cx="405421" cy="365125"/>
          </a:xfrm>
        </p:spPr>
        <p:txBody>
          <a:bodyPr/>
          <a:lstStyle/>
          <a:p>
            <a:fld id="{8F1D01A0-D233-4FA1-8698-D063092A8F39}" type="slidenum">
              <a:rPr lang="en-US" sz="3200" b="1" smtClean="0"/>
              <a:t>4</a:t>
            </a:fld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2298953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and white clouds&#10;&#10;AI-generated content may be incorrect.">
            <a:extLst>
              <a:ext uri="{FF2B5EF4-FFF2-40B4-BE49-F238E27FC236}">
                <a16:creationId xmlns:a16="http://schemas.microsoft.com/office/drawing/2014/main" id="{94658F71-C846-AC83-3714-C114C99AC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8812" y="5796200"/>
            <a:ext cx="2012452" cy="733527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CF03BF62-853B-2F13-AAD8-7A501ACA15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070" y="-188981"/>
            <a:ext cx="3614601" cy="4670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853F9EE3-ADFD-DECF-CDA0-DDD134813A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6509" y="-25608"/>
            <a:ext cx="5955149" cy="6732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A white background with black and white clouds&#10;&#10;AI-generated content may be incorrect.">
            <a:extLst>
              <a:ext uri="{FF2B5EF4-FFF2-40B4-BE49-F238E27FC236}">
                <a16:creationId xmlns:a16="http://schemas.microsoft.com/office/drawing/2014/main" id="{4097B7A9-B929-55EF-992A-BB86814D24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1381" y="6344261"/>
            <a:ext cx="1333686" cy="3098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5068DD5-8B0F-4B57-7A54-CF6391D97503}"/>
              </a:ext>
            </a:extLst>
          </p:cNvPr>
          <p:cNvSpPr txBox="1"/>
          <p:nvPr/>
        </p:nvSpPr>
        <p:spPr>
          <a:xfrm flipH="1">
            <a:off x="1708130" y="2863680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1.2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840011-C702-E006-0D5C-053369713026}"/>
              </a:ext>
            </a:extLst>
          </p:cNvPr>
          <p:cNvSpPr txBox="1"/>
          <p:nvPr/>
        </p:nvSpPr>
        <p:spPr>
          <a:xfrm flipH="1">
            <a:off x="1832122" y="6330218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1.3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482BCC-8167-1615-578D-D48346001AC6}"/>
              </a:ext>
            </a:extLst>
          </p:cNvPr>
          <p:cNvSpPr txBox="1"/>
          <p:nvPr/>
        </p:nvSpPr>
        <p:spPr>
          <a:xfrm flipH="1">
            <a:off x="5332097" y="4208839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1.4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59B77830-0C53-6BA1-6BD9-DE40AF32D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59320" y="-25608"/>
            <a:ext cx="4764387" cy="6464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FD6B15A-F834-278E-8578-126C03AAA44F}"/>
              </a:ext>
            </a:extLst>
          </p:cNvPr>
          <p:cNvSpPr txBox="1"/>
          <p:nvPr/>
        </p:nvSpPr>
        <p:spPr>
          <a:xfrm>
            <a:off x="4254839" y="6159238"/>
            <a:ext cx="43113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These folder structures were later changed according to the need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B46BA7-6C4E-D4B0-1BD3-B306AEE7D2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57289" y="4714532"/>
            <a:ext cx="726708" cy="30622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84DC098-9ABA-F03F-32CB-A030DBD4858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7648" y="4019110"/>
            <a:ext cx="1131576" cy="49026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4517164-7C26-EE48-8707-A3E8D11D352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94539" y="5886515"/>
            <a:ext cx="1131576" cy="49026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0FD9992-0313-D6CD-EE92-F33D3686319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86867" y="6194069"/>
            <a:ext cx="1131576" cy="49026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E492E83-5174-2F3B-60E2-82BD603B37F2}"/>
              </a:ext>
            </a:extLst>
          </p:cNvPr>
          <p:cNvSpPr txBox="1"/>
          <p:nvPr/>
        </p:nvSpPr>
        <p:spPr>
          <a:xfrm flipH="1">
            <a:off x="8597492" y="5619495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1.5</a:t>
            </a:r>
          </a:p>
        </p:txBody>
      </p:sp>
      <p:sp>
        <p:nvSpPr>
          <p:cNvPr id="15" name="Slide Number Placeholder 18">
            <a:extLst>
              <a:ext uri="{FF2B5EF4-FFF2-40B4-BE49-F238E27FC236}">
                <a16:creationId xmlns:a16="http://schemas.microsoft.com/office/drawing/2014/main" id="{B2AE18C6-9945-892E-2FCA-53E21EDA1260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4054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5</a:t>
            </a:fld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4630409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AD4B9E-4C67-3A92-A0EE-634A14E01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E4372BCC-156A-5CCE-D630-4F112DC299EC}"/>
              </a:ext>
            </a:extLst>
          </p:cNvPr>
          <p:cNvSpPr txBox="1"/>
          <p:nvPr/>
        </p:nvSpPr>
        <p:spPr>
          <a:xfrm>
            <a:off x="269240" y="999430"/>
            <a:ext cx="3632200" cy="24622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6400"/>
              </a:lnSpc>
            </a:pPr>
            <a:r>
              <a:rPr lang="en-US" sz="5400" spc="-128" dirty="0">
                <a:solidFill>
                  <a:srgbClr val="1A73E8"/>
                </a:solidFill>
                <a:latin typeface="Noto Serif Display ExtraCondensed Light"/>
                <a:ea typeface="Noto Serif Display ExtraCondensed Light"/>
                <a:cs typeface="Noto Serif Display ExtraCondensed Light"/>
                <a:sym typeface="Noto Serif Display ExtraCondensed Light"/>
              </a:rPr>
              <a:t>My contribution to the project</a:t>
            </a:r>
          </a:p>
        </p:txBody>
      </p:sp>
      <p:sp>
        <p:nvSpPr>
          <p:cNvPr id="15" name="AutoShape 15">
            <a:extLst>
              <a:ext uri="{FF2B5EF4-FFF2-40B4-BE49-F238E27FC236}">
                <a16:creationId xmlns:a16="http://schemas.microsoft.com/office/drawing/2014/main" id="{32882983-23CD-926D-2883-9E119578BBAA}"/>
              </a:ext>
            </a:extLst>
          </p:cNvPr>
          <p:cNvSpPr/>
          <p:nvPr/>
        </p:nvSpPr>
        <p:spPr>
          <a:xfrm>
            <a:off x="0" y="444500"/>
            <a:ext cx="12192000" cy="0"/>
          </a:xfrm>
          <a:prstGeom prst="line">
            <a:avLst/>
          </a:prstGeom>
          <a:ln w="19050" cap="flat">
            <a:solidFill>
              <a:srgbClr val="4A4A4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>
            <a:extLst>
              <a:ext uri="{FF2B5EF4-FFF2-40B4-BE49-F238E27FC236}">
                <a16:creationId xmlns:a16="http://schemas.microsoft.com/office/drawing/2014/main" id="{25C7310A-FDF3-6AA6-DC48-86EA0CE58EE3}"/>
              </a:ext>
            </a:extLst>
          </p:cNvPr>
          <p:cNvSpPr/>
          <p:nvPr/>
        </p:nvSpPr>
        <p:spPr>
          <a:xfrm>
            <a:off x="0" y="6413500"/>
            <a:ext cx="12192000" cy="0"/>
          </a:xfrm>
          <a:prstGeom prst="line">
            <a:avLst/>
          </a:prstGeom>
          <a:ln w="19050" cap="flat">
            <a:solidFill>
              <a:srgbClr val="4A4A4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E8FBCC7-A6A2-FD91-D0FD-2ED6CB5077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03" y="3599674"/>
            <a:ext cx="3713737" cy="267579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2E79AA2-3F32-561D-B916-D99F3E890559}"/>
              </a:ext>
            </a:extLst>
          </p:cNvPr>
          <p:cNvSpPr txBox="1"/>
          <p:nvPr/>
        </p:nvSpPr>
        <p:spPr>
          <a:xfrm>
            <a:off x="6096000" y="2844690"/>
            <a:ext cx="465535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400" dirty="0"/>
              <a:t>False Position Method</a:t>
            </a:r>
          </a:p>
          <a:p>
            <a:pPr marL="342900" indent="-342900">
              <a:buAutoNum type="arabicPeriod"/>
            </a:pPr>
            <a:r>
              <a:rPr lang="en-US" sz="2400" dirty="0"/>
              <a:t>Newton Raphson Method</a:t>
            </a:r>
          </a:p>
          <a:p>
            <a:pPr marL="342900" indent="-342900">
              <a:buAutoNum type="arabicPeriod"/>
            </a:pPr>
            <a:r>
              <a:rPr lang="en-US" sz="2400" dirty="0"/>
              <a:t>Secant Method</a:t>
            </a:r>
          </a:p>
          <a:p>
            <a:pPr marL="342900" indent="-342900">
              <a:buAutoNum type="arabicPeriod"/>
            </a:pPr>
            <a:r>
              <a:rPr lang="en-US" sz="2400" dirty="0"/>
              <a:t>Simpson’s 1/3 Method</a:t>
            </a:r>
          </a:p>
          <a:p>
            <a:pPr marL="342900" indent="-342900">
              <a:buAutoNum type="arabicPeriod"/>
            </a:pPr>
            <a:r>
              <a:rPr lang="en-US" sz="2400" dirty="0"/>
              <a:t>Simpson’s 3/8 Method</a:t>
            </a:r>
          </a:p>
          <a:p>
            <a:pPr marL="342900" indent="-342900">
              <a:buAutoNum type="arabicPeriod"/>
            </a:pPr>
            <a:r>
              <a:rPr lang="en-US" sz="2400" dirty="0"/>
              <a:t>Differential Equation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F4B32D-1FFB-2508-CEEC-591C0A018BF6}"/>
              </a:ext>
            </a:extLst>
          </p:cNvPr>
          <p:cNvSpPr txBox="1"/>
          <p:nvPr/>
        </p:nvSpPr>
        <p:spPr>
          <a:xfrm>
            <a:off x="5821680" y="2074319"/>
            <a:ext cx="43753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Method Implemented by me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463C5E-58B6-F246-D3CD-484C01BCB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" name="Slide Number Placeholder 18">
            <a:extLst>
              <a:ext uri="{FF2B5EF4-FFF2-40B4-BE49-F238E27FC236}">
                <a16:creationId xmlns:a16="http://schemas.microsoft.com/office/drawing/2014/main" id="{2630112B-198C-9E3C-4A6C-E419CBB46954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4054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6</a:t>
            </a:fld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8790634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13F01-C24A-C366-4C3B-688708845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D6DB273-03ED-C898-081D-3C64C258369F}"/>
              </a:ext>
            </a:extLst>
          </p:cNvPr>
          <p:cNvSpPr txBox="1"/>
          <p:nvPr/>
        </p:nvSpPr>
        <p:spPr>
          <a:xfrm>
            <a:off x="5111691" y="135113"/>
            <a:ext cx="19686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2207007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115DF2F-68E1-E341-A51C-A9895DC4A8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0747" y="3187386"/>
            <a:ext cx="1676460" cy="442630"/>
          </a:xfrm>
          <a:prstGeom prst="rect">
            <a:avLst/>
          </a:prstGeom>
        </p:spPr>
      </p:pic>
      <p:pic>
        <p:nvPicPr>
          <p:cNvPr id="4" name="Picture 3" descr="A white background with black dots&#10;&#10;AI-generated content may be incorrect.">
            <a:extLst>
              <a:ext uri="{FF2B5EF4-FFF2-40B4-BE49-F238E27FC236}">
                <a16:creationId xmlns:a16="http://schemas.microsoft.com/office/drawing/2014/main" id="{F5D80069-ABD4-5804-CC94-895F3E0114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6855" y="3095578"/>
            <a:ext cx="1966538" cy="50956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91C50DA4-1DBB-CCBB-2F5C-4CDCDFE0D7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5480" y="1587735"/>
            <a:ext cx="5072443" cy="4916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A97AF7B-EF57-E5D5-AE42-E41B66B470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169" y="4234125"/>
            <a:ext cx="2400635" cy="14384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45A6369-671F-DC48-C460-5163F705C2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148" y="2020214"/>
            <a:ext cx="4510039" cy="16413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C5EAD4C-C966-F2C1-EB8E-ACBB827F40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93236" y="5592250"/>
            <a:ext cx="1266131" cy="58987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541EFBB-034E-CE31-3B9B-89F79DF731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37854" y="4189026"/>
            <a:ext cx="3839111" cy="21624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C4ADDF5-03B8-0703-6894-A5DD5CC0D48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52888" y="1587735"/>
            <a:ext cx="3824077" cy="192714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3535FEB-01F3-B995-F17B-2AAE1506ED5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1997" y="5994171"/>
            <a:ext cx="1622478" cy="5898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633E7C5-2B4E-7EAB-06A5-519B8E166FC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29493" y="1373883"/>
            <a:ext cx="3424376" cy="58987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F026BDB-FFB2-4768-57EC-F77613429BA3}"/>
              </a:ext>
            </a:extLst>
          </p:cNvPr>
          <p:cNvSpPr txBox="1"/>
          <p:nvPr/>
        </p:nvSpPr>
        <p:spPr>
          <a:xfrm>
            <a:off x="3478928" y="824120"/>
            <a:ext cx="46505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False Position Process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F649C7-0EA1-1E94-85A5-51AECAEEBF35}"/>
              </a:ext>
            </a:extLst>
          </p:cNvPr>
          <p:cNvSpPr txBox="1"/>
          <p:nvPr/>
        </p:nvSpPr>
        <p:spPr>
          <a:xfrm flipH="1">
            <a:off x="1591873" y="3676666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1.6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0E9A19-DA17-200D-1F5C-B4A2AFE3D8BB}"/>
              </a:ext>
            </a:extLst>
          </p:cNvPr>
          <p:cNvSpPr txBox="1"/>
          <p:nvPr/>
        </p:nvSpPr>
        <p:spPr>
          <a:xfrm flipH="1">
            <a:off x="1212195" y="5789015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1.7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EFD26E-F845-7521-EBBC-2499E1917A83}"/>
              </a:ext>
            </a:extLst>
          </p:cNvPr>
          <p:cNvSpPr txBox="1"/>
          <p:nvPr/>
        </p:nvSpPr>
        <p:spPr>
          <a:xfrm flipH="1">
            <a:off x="9876548" y="3590508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1.8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46F4F9-D516-0261-8CF9-03D782245EFE}"/>
              </a:ext>
            </a:extLst>
          </p:cNvPr>
          <p:cNvSpPr txBox="1"/>
          <p:nvPr/>
        </p:nvSpPr>
        <p:spPr>
          <a:xfrm flipH="1">
            <a:off x="9876548" y="6351503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1.9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C5C60E-DB2B-588D-F5FF-EAC46602676E}"/>
              </a:ext>
            </a:extLst>
          </p:cNvPr>
          <p:cNvSpPr txBox="1"/>
          <p:nvPr/>
        </p:nvSpPr>
        <p:spPr>
          <a:xfrm flipH="1">
            <a:off x="5417144" y="5702521"/>
            <a:ext cx="1098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1.10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235CF9F7-9A9D-CFBE-53C0-7AB4E52C0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6748" y="6401483"/>
            <a:ext cx="405421" cy="365125"/>
          </a:xfrm>
        </p:spPr>
        <p:txBody>
          <a:bodyPr/>
          <a:lstStyle/>
          <a:p>
            <a:fld id="{8F1D01A0-D233-4FA1-8698-D063092A8F39}" type="slidenum">
              <a:rPr lang="en-US" sz="3200" b="1" smtClean="0"/>
              <a:t>7</a:t>
            </a:fld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5479385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097B0-C916-EC10-3AC2-C4EC3AB75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D285251-2E74-31B2-D6DF-36D59255E867}"/>
              </a:ext>
            </a:extLst>
          </p:cNvPr>
          <p:cNvSpPr txBox="1"/>
          <p:nvPr/>
        </p:nvSpPr>
        <p:spPr>
          <a:xfrm>
            <a:off x="4127383" y="136969"/>
            <a:ext cx="364074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b="1" dirty="0"/>
              <a:t>2207007</a:t>
            </a:r>
            <a:endParaRPr lang="en-US" sz="6000" b="1" dirty="0"/>
          </a:p>
        </p:txBody>
      </p:sp>
      <p:pic>
        <p:nvPicPr>
          <p:cNvPr id="4" name="Picture 3" descr="A white background with black dots&#10;&#10;AI-generated content may be incorrect.">
            <a:extLst>
              <a:ext uri="{FF2B5EF4-FFF2-40B4-BE49-F238E27FC236}">
                <a16:creationId xmlns:a16="http://schemas.microsoft.com/office/drawing/2014/main" id="{F639AD18-7549-719D-9A20-7010F884F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6855" y="3095578"/>
            <a:ext cx="1966538" cy="509563"/>
          </a:xfrm>
          <a:prstGeom prst="rect">
            <a:avLst/>
          </a:prstGeom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6C7023A3-3EB2-C5ED-0479-5A9BE24BB5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7133" y="859452"/>
            <a:ext cx="4281240" cy="5491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A8B455-27B2-672A-CCC8-18FD69CF48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9629" y="5889278"/>
            <a:ext cx="1692484" cy="8097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292B21-F44E-6D43-619F-A4819F97EB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8373" y="690802"/>
            <a:ext cx="3970756" cy="27381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CF6ECA-C4EE-6ADC-F7F8-ABCA2C5FDE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9914" y="4155656"/>
            <a:ext cx="3970756" cy="22394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D4A3E13-BC30-C9FD-96F6-B3B275B979E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69" y="975227"/>
            <a:ext cx="3838843" cy="27409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BE44C9-35C6-FC22-C2B2-13CBB4A22D6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016" y="4238430"/>
            <a:ext cx="3785722" cy="211956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C72CBF0-5FCF-DE5B-DE4A-F04EB25A5A44}"/>
              </a:ext>
            </a:extLst>
          </p:cNvPr>
          <p:cNvSpPr txBox="1"/>
          <p:nvPr/>
        </p:nvSpPr>
        <p:spPr>
          <a:xfrm flipH="1">
            <a:off x="1422908" y="3831980"/>
            <a:ext cx="1098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1.11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37B4BA-EC97-806A-4739-334866C563DE}"/>
              </a:ext>
            </a:extLst>
          </p:cNvPr>
          <p:cNvSpPr txBox="1"/>
          <p:nvPr/>
        </p:nvSpPr>
        <p:spPr>
          <a:xfrm flipH="1">
            <a:off x="1422908" y="6395116"/>
            <a:ext cx="1098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1.12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52FA7B-573E-D30B-4CCD-1DE749D550F4}"/>
              </a:ext>
            </a:extLst>
          </p:cNvPr>
          <p:cNvSpPr txBox="1"/>
          <p:nvPr/>
        </p:nvSpPr>
        <p:spPr>
          <a:xfrm flipH="1">
            <a:off x="9670928" y="3512109"/>
            <a:ext cx="1098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1.13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80AF72-1D76-3394-E829-B1FCF58519EF}"/>
              </a:ext>
            </a:extLst>
          </p:cNvPr>
          <p:cNvSpPr txBox="1"/>
          <p:nvPr/>
        </p:nvSpPr>
        <p:spPr>
          <a:xfrm flipH="1">
            <a:off x="9780582" y="6386978"/>
            <a:ext cx="1098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1.14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45D857-C998-7F43-3FF6-7721C5E58257}"/>
              </a:ext>
            </a:extLst>
          </p:cNvPr>
          <p:cNvSpPr txBox="1"/>
          <p:nvPr/>
        </p:nvSpPr>
        <p:spPr>
          <a:xfrm flipH="1">
            <a:off x="5564023" y="6017646"/>
            <a:ext cx="1098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1.15</a:t>
            </a:r>
          </a:p>
        </p:txBody>
      </p:sp>
      <p:sp>
        <p:nvSpPr>
          <p:cNvPr id="17" name="Slide Number Placeholder 18">
            <a:extLst>
              <a:ext uri="{FF2B5EF4-FFF2-40B4-BE49-F238E27FC236}">
                <a16:creationId xmlns:a16="http://schemas.microsoft.com/office/drawing/2014/main" id="{25705F50-924A-9083-8612-57E1C73D90C1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4054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8</a:t>
            </a:fld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42347783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67593-FAD2-0088-F090-584D8F090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6BEEA88-2DDB-2E20-59FB-A780827166FB}"/>
              </a:ext>
            </a:extLst>
          </p:cNvPr>
          <p:cNvSpPr txBox="1"/>
          <p:nvPr/>
        </p:nvSpPr>
        <p:spPr>
          <a:xfrm>
            <a:off x="4127383" y="136969"/>
            <a:ext cx="364074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b="1" dirty="0"/>
              <a:t>2207007</a:t>
            </a:r>
            <a:endParaRPr lang="en-US" sz="6000" b="1" dirty="0"/>
          </a:p>
        </p:txBody>
      </p:sp>
      <p:pic>
        <p:nvPicPr>
          <p:cNvPr id="4" name="Picture 3" descr="A white background with black dots&#10;&#10;AI-generated content may be incorrect.">
            <a:extLst>
              <a:ext uri="{FF2B5EF4-FFF2-40B4-BE49-F238E27FC236}">
                <a16:creationId xmlns:a16="http://schemas.microsoft.com/office/drawing/2014/main" id="{100FFE80-2298-0042-C496-53E29D1D69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6855" y="3095578"/>
            <a:ext cx="1966538" cy="5095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335069C-1A18-E533-6E57-D264677A29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9629" y="5889278"/>
            <a:ext cx="1692484" cy="809738"/>
          </a:xfrm>
          <a:prstGeom prst="rect">
            <a:avLst/>
          </a:prstGeom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BB36D1A-4803-D604-F31F-414AB38F3E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9272" y="855587"/>
            <a:ext cx="5346437" cy="5666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3CA4055-313C-12D9-EE98-30356F6A1D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2242" y="5723870"/>
            <a:ext cx="1533739" cy="60968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2682BBC-44AD-2503-044D-6D56EB1F637B}"/>
              </a:ext>
            </a:extLst>
          </p:cNvPr>
          <p:cNvSpPr txBox="1"/>
          <p:nvPr/>
        </p:nvSpPr>
        <p:spPr>
          <a:xfrm flipH="1">
            <a:off x="5564023" y="6017646"/>
            <a:ext cx="1098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1.16</a:t>
            </a:r>
          </a:p>
        </p:txBody>
      </p:sp>
      <p:sp>
        <p:nvSpPr>
          <p:cNvPr id="8" name="Slide Number Placeholder 18">
            <a:extLst>
              <a:ext uri="{FF2B5EF4-FFF2-40B4-BE49-F238E27FC236}">
                <a16:creationId xmlns:a16="http://schemas.microsoft.com/office/drawing/2014/main" id="{8B7D4FF7-2F0C-A09B-9B97-E88BDF0F8EC9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4054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9</a:t>
            </a:fld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905131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B010-0814-8DE6-291E-A240308D8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6E2BCFB-FD49-D60C-797E-68A8434B6707}"/>
              </a:ext>
            </a:extLst>
          </p:cNvPr>
          <p:cNvSpPr txBox="1"/>
          <p:nvPr/>
        </p:nvSpPr>
        <p:spPr>
          <a:xfrm>
            <a:off x="4127383" y="136969"/>
            <a:ext cx="364074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b="1" dirty="0"/>
              <a:t>2207007</a:t>
            </a:r>
            <a:endParaRPr lang="en-US" sz="6000" b="1" dirty="0"/>
          </a:p>
        </p:txBody>
      </p:sp>
      <p:pic>
        <p:nvPicPr>
          <p:cNvPr id="4" name="Picture 3" descr="A white background with black dots&#10;&#10;AI-generated content may be incorrect.">
            <a:extLst>
              <a:ext uri="{FF2B5EF4-FFF2-40B4-BE49-F238E27FC236}">
                <a16:creationId xmlns:a16="http://schemas.microsoft.com/office/drawing/2014/main" id="{289DF09B-893B-7F3C-FDED-8D291E9882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6855" y="3095578"/>
            <a:ext cx="1966538" cy="5095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31634E-AAA2-5B54-B2F7-77D2E47765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9629" y="5889278"/>
            <a:ext cx="1692484" cy="80973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81BD7D4-7F70-DD3A-0476-1FA56C4619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242" y="5723870"/>
            <a:ext cx="1533739" cy="609685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F1EAFA3C-C441-E400-C598-2C66E55671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5890" y="1261700"/>
            <a:ext cx="8103726" cy="2708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28BD0F7-8152-E18D-92B1-702DE6C0F51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2113" y="5102316"/>
            <a:ext cx="2324424" cy="9526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C19C8C8-AE29-F783-8FDA-AA5AA084308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8553" y="3501544"/>
            <a:ext cx="2076740" cy="7240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C0EFEDA-DC37-AFDE-9966-271933945A45}"/>
              </a:ext>
            </a:extLst>
          </p:cNvPr>
          <p:cNvSpPr txBox="1"/>
          <p:nvPr/>
        </p:nvSpPr>
        <p:spPr>
          <a:xfrm flipH="1">
            <a:off x="5398671" y="3933180"/>
            <a:ext cx="1098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1.17</a:t>
            </a:r>
          </a:p>
        </p:txBody>
      </p:sp>
      <p:sp>
        <p:nvSpPr>
          <p:cNvPr id="11" name="Slide Number Placeholder 18">
            <a:extLst>
              <a:ext uri="{FF2B5EF4-FFF2-40B4-BE49-F238E27FC236}">
                <a16:creationId xmlns:a16="http://schemas.microsoft.com/office/drawing/2014/main" id="{73C65B2D-C9E8-F984-BACE-7703839D8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6748" y="6401483"/>
            <a:ext cx="649908" cy="365125"/>
          </a:xfrm>
        </p:spPr>
        <p:txBody>
          <a:bodyPr/>
          <a:lstStyle/>
          <a:p>
            <a:fld id="{8F1D01A0-D233-4FA1-8698-D063092A8F39}" type="slidenum">
              <a:rPr lang="en-US" sz="3200" b="1" smtClean="0"/>
              <a:t>10</a:t>
            </a:fld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8894629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49758-25FC-8401-88B2-48EE9702D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4DB8E-8CC3-C9DC-3419-975CDC623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5800" y="883285"/>
            <a:ext cx="8864600" cy="1325563"/>
          </a:xfrm>
        </p:spPr>
        <p:txBody>
          <a:bodyPr/>
          <a:lstStyle/>
          <a:p>
            <a:r>
              <a:rPr lang="en-US" b="1" dirty="0"/>
              <a:t>Thank You for Your Attention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F02ADC-9C08-6D80-4FD3-31367B60D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360" y="2646364"/>
            <a:ext cx="10515600" cy="118871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 will now hand over to 2207008, who will explain the next steps of the project.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B1336F-7E39-6DEE-AE4B-6A0A1F0B6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D01A0-D233-4FA1-8698-D063092A8F39}" type="slidenum">
              <a:rPr lang="en-US" smtClean="0"/>
              <a:t>11</a:t>
            </a:fld>
            <a:endParaRPr lang="en-US"/>
          </a:p>
        </p:txBody>
      </p:sp>
      <p:sp>
        <p:nvSpPr>
          <p:cNvPr id="7" name="Slide Number Placeholder 18">
            <a:extLst>
              <a:ext uri="{FF2B5EF4-FFF2-40B4-BE49-F238E27FC236}">
                <a16:creationId xmlns:a16="http://schemas.microsoft.com/office/drawing/2014/main" id="{BF90A07C-A0DE-1C2F-1296-73B8F992F6C2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6590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11</a:t>
            </a:fld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364362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197600" y="0"/>
            <a:ext cx="5994400" cy="6858000"/>
            <a:chOff x="0" y="0"/>
            <a:chExt cx="1393034" cy="15937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93034" cy="1593725"/>
            </a:xfrm>
            <a:custGeom>
              <a:avLst/>
              <a:gdLst/>
              <a:ahLst/>
              <a:cxnLst/>
              <a:rect l="l" t="t" r="r" b="b"/>
              <a:pathLst>
                <a:path w="1393034" h="1593725">
                  <a:moveTo>
                    <a:pt x="0" y="0"/>
                  </a:moveTo>
                  <a:lnTo>
                    <a:pt x="1393034" y="0"/>
                  </a:lnTo>
                  <a:lnTo>
                    <a:pt x="1393034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t="-378" b="-37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4000" y="482601"/>
            <a:ext cx="6522720" cy="4788465"/>
            <a:chOff x="-381000" y="-3876038"/>
            <a:chExt cx="13045440" cy="9576931"/>
          </a:xfrm>
        </p:grpSpPr>
        <p:sp>
          <p:nvSpPr>
            <p:cNvPr id="6" name="TextBox 6"/>
            <p:cNvSpPr txBox="1"/>
            <p:nvPr/>
          </p:nvSpPr>
          <p:spPr>
            <a:xfrm>
              <a:off x="-218440" y="4008121"/>
              <a:ext cx="10871200" cy="169277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239"/>
                </a:lnSpc>
                <a:spcBef>
                  <a:spcPct val="0"/>
                </a:spcBef>
              </a:pPr>
              <a:r>
                <a:rPr lang="en-US" sz="1866" dirty="0">
                  <a:solidFill>
                    <a:srgbClr val="4A4A4A"/>
                  </a:solidFill>
                  <a:latin typeface="HK Grotesk"/>
                  <a:ea typeface="HK Grotesk"/>
                  <a:cs typeface="HK Grotesk"/>
                  <a:sym typeface="HK Grotesk"/>
                </a:rPr>
                <a:t>Name: Kazi Sakibul Hasan </a:t>
              </a:r>
            </a:p>
            <a:p>
              <a:pPr>
                <a:lnSpc>
                  <a:spcPts val="2239"/>
                </a:lnSpc>
                <a:spcBef>
                  <a:spcPct val="0"/>
                </a:spcBef>
              </a:pPr>
              <a:r>
                <a:rPr lang="en-US" sz="1866" dirty="0">
                  <a:solidFill>
                    <a:srgbClr val="4A4A4A"/>
                  </a:solidFill>
                  <a:latin typeface="HK Grotesk"/>
                  <a:ea typeface="HK Grotesk"/>
                  <a:cs typeface="HK Grotesk"/>
                  <a:sym typeface="HK Grotesk"/>
                </a:rPr>
                <a:t>Roll: 2207008 </a:t>
              </a:r>
            </a:p>
            <a:p>
              <a:pPr>
                <a:lnSpc>
                  <a:spcPts val="2239"/>
                </a:lnSpc>
                <a:spcBef>
                  <a:spcPct val="0"/>
                </a:spcBef>
              </a:pPr>
              <a:r>
                <a:rPr lang="en-US" sz="1866" dirty="0">
                  <a:solidFill>
                    <a:srgbClr val="4A4A4A"/>
                  </a:solidFill>
                  <a:latin typeface="HK Grotesk"/>
                  <a:ea typeface="HK Grotesk"/>
                  <a:cs typeface="HK Grotesk"/>
                  <a:sym typeface="HK Grotesk"/>
                </a:rPr>
                <a:t>Role: Implementation &amp; Version Control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-381000" y="-3876038"/>
              <a:ext cx="13045440" cy="738663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9600"/>
                </a:lnSpc>
              </a:pPr>
              <a:r>
                <a:rPr lang="en-US" sz="9600" spc="-192" dirty="0">
                  <a:solidFill>
                    <a:srgbClr val="1A73E8"/>
                  </a:solidFill>
                  <a:latin typeface="Noto Serif Display ExtraCondensed Light"/>
                  <a:ea typeface="Noto Serif Display ExtraCondensed Light"/>
                  <a:cs typeface="Noto Serif Display ExtraCondensed Light"/>
                  <a:sym typeface="Noto Serif Display ExtraCondensed Light"/>
                </a:rPr>
                <a:t>Numerical Methods Project </a:t>
              </a:r>
            </a:p>
          </p:txBody>
        </p:sp>
      </p:grp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C4C3A1-EA5F-0A28-2A5F-1067EC9F2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D01A0-D233-4FA1-8698-D063092A8F39}" type="slidenum">
              <a:rPr lang="en-US" smtClean="0"/>
              <a:t>12</a:t>
            </a:fld>
            <a:endParaRPr lang="en-US"/>
          </a:p>
        </p:txBody>
      </p:sp>
      <p:sp>
        <p:nvSpPr>
          <p:cNvPr id="10" name="Slide Number Placeholder 18">
            <a:extLst>
              <a:ext uri="{FF2B5EF4-FFF2-40B4-BE49-F238E27FC236}">
                <a16:creationId xmlns:a16="http://schemas.microsoft.com/office/drawing/2014/main" id="{7E98E96E-D022-059B-E41B-0B16CB1F576B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4054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3200" b="1" dirty="0"/>
          </a:p>
        </p:txBody>
      </p:sp>
      <p:sp>
        <p:nvSpPr>
          <p:cNvPr id="11" name="Slide Number Placeholder 18">
            <a:extLst>
              <a:ext uri="{FF2B5EF4-FFF2-40B4-BE49-F238E27FC236}">
                <a16:creationId xmlns:a16="http://schemas.microsoft.com/office/drawing/2014/main" id="{B73F3354-744A-6605-0DAA-CAE702F6E9BB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6590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12</a:t>
            </a:fld>
            <a:endParaRPr lang="en-US" sz="3200" b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44500" y="1162614"/>
            <a:ext cx="3632200" cy="24622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6400"/>
              </a:lnSpc>
            </a:pPr>
            <a:r>
              <a:rPr lang="en-US" sz="6400" spc="-128" dirty="0">
                <a:solidFill>
                  <a:srgbClr val="1A73E8"/>
                </a:solidFill>
                <a:latin typeface="Noto Serif Display ExtraCondensed Light"/>
                <a:ea typeface="Noto Serif Display ExtraCondensed Light"/>
                <a:cs typeface="Noto Serif Display ExtraCondensed Light"/>
                <a:sym typeface="Noto Serif Display ExtraCondensed Light"/>
              </a:rPr>
              <a:t>My Role in Version Control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238750" y="1638300"/>
            <a:ext cx="2673350" cy="1084213"/>
            <a:chOff x="0" y="0"/>
            <a:chExt cx="5346700" cy="2168428"/>
          </a:xfrm>
        </p:grpSpPr>
        <p:sp>
          <p:nvSpPr>
            <p:cNvPr id="4" name="TextBox 4"/>
            <p:cNvSpPr txBox="1"/>
            <p:nvPr/>
          </p:nvSpPr>
          <p:spPr>
            <a:xfrm>
              <a:off x="0" y="0"/>
              <a:ext cx="534670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39"/>
                </a:lnSpc>
              </a:pPr>
              <a:r>
                <a:rPr lang="en-US" sz="1866" b="1">
                  <a:solidFill>
                    <a:srgbClr val="4A4A4A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Repository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1193801"/>
              <a:ext cx="5312522" cy="9746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19"/>
                </a:lnSpc>
              </a:pPr>
              <a:r>
                <a:rPr lang="en-US" sz="1600" dirty="0">
                  <a:solidFill>
                    <a:srgbClr val="4A4A4A"/>
                  </a:solidFill>
                  <a:latin typeface="HK Grotesk"/>
                  <a:ea typeface="HK Grotesk"/>
                  <a:cs typeface="HK Grotesk"/>
                  <a:sym typeface="HK Grotesk"/>
                </a:rPr>
                <a:t>Created and managed Git repository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074150" y="1638300"/>
            <a:ext cx="2673350" cy="1084213"/>
            <a:chOff x="0" y="0"/>
            <a:chExt cx="5346700" cy="2168428"/>
          </a:xfrm>
        </p:grpSpPr>
        <p:sp>
          <p:nvSpPr>
            <p:cNvPr id="7" name="TextBox 7"/>
            <p:cNvSpPr txBox="1"/>
            <p:nvPr/>
          </p:nvSpPr>
          <p:spPr>
            <a:xfrm>
              <a:off x="0" y="0"/>
              <a:ext cx="534670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39"/>
                </a:lnSpc>
              </a:pPr>
              <a:r>
                <a:rPr lang="en-US" sz="1866" b="1">
                  <a:solidFill>
                    <a:srgbClr val="4A4A4A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Collaboration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1193801"/>
              <a:ext cx="5312522" cy="9746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19"/>
                </a:lnSpc>
              </a:pPr>
              <a:r>
                <a:rPr lang="en-US" sz="1600" dirty="0">
                  <a:solidFill>
                    <a:srgbClr val="4A4A4A"/>
                  </a:solidFill>
                  <a:latin typeface="HK Grotesk"/>
                  <a:ea typeface="HK Grotesk"/>
                  <a:cs typeface="HK Grotesk"/>
                  <a:sym typeface="HK Grotesk"/>
                </a:rPr>
                <a:t>Enabled smooth teamwork and integration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074150" y="4025900"/>
            <a:ext cx="2681895" cy="1084213"/>
            <a:chOff x="0" y="0"/>
            <a:chExt cx="5363789" cy="2168428"/>
          </a:xfrm>
        </p:grpSpPr>
        <p:sp>
          <p:nvSpPr>
            <p:cNvPr id="10" name="TextBox 10"/>
            <p:cNvSpPr txBox="1"/>
            <p:nvPr/>
          </p:nvSpPr>
          <p:spPr>
            <a:xfrm>
              <a:off x="17090" y="0"/>
              <a:ext cx="5346699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39"/>
                </a:lnSpc>
              </a:pPr>
              <a:r>
                <a:rPr lang="en-US" sz="1866" b="1">
                  <a:solidFill>
                    <a:srgbClr val="4A4A4A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Stability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1193801"/>
              <a:ext cx="5312521" cy="9746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19"/>
                </a:lnSpc>
              </a:pPr>
              <a:r>
                <a:rPr lang="en-US" sz="1600">
                  <a:solidFill>
                    <a:srgbClr val="4A4A4A"/>
                  </a:solidFill>
                  <a:latin typeface="HK Grotesk"/>
                  <a:ea typeface="HK Grotesk"/>
                  <a:cs typeface="HK Grotesk"/>
                  <a:sym typeface="HK Grotesk"/>
                </a:rPr>
                <a:t>Resolved conflicts for main branch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238750" y="4025900"/>
            <a:ext cx="2673350" cy="1084213"/>
            <a:chOff x="0" y="0"/>
            <a:chExt cx="5346700" cy="2168428"/>
          </a:xfrm>
        </p:grpSpPr>
        <p:sp>
          <p:nvSpPr>
            <p:cNvPr id="13" name="TextBox 13"/>
            <p:cNvSpPr txBox="1"/>
            <p:nvPr/>
          </p:nvSpPr>
          <p:spPr>
            <a:xfrm>
              <a:off x="0" y="0"/>
              <a:ext cx="534670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39"/>
                </a:lnSpc>
              </a:pPr>
              <a:r>
                <a:rPr lang="en-US" sz="1866" b="1">
                  <a:solidFill>
                    <a:srgbClr val="4A4A4A"/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Management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1193801"/>
              <a:ext cx="5346700" cy="9746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19"/>
                </a:lnSpc>
              </a:pPr>
              <a:r>
                <a:rPr lang="en-US" sz="1600">
                  <a:solidFill>
                    <a:srgbClr val="4A4A4A"/>
                  </a:solidFill>
                  <a:latin typeface="HK Grotesk"/>
                  <a:ea typeface="HK Grotesk"/>
                  <a:cs typeface="HK Grotesk"/>
                  <a:sym typeface="HK Grotesk"/>
                </a:rPr>
                <a:t>Handled branches and merges efficiently</a:t>
              </a:r>
            </a:p>
          </p:txBody>
        </p:sp>
      </p:grpSp>
      <p:sp>
        <p:nvSpPr>
          <p:cNvPr id="15" name="AutoShape 15"/>
          <p:cNvSpPr/>
          <p:nvPr/>
        </p:nvSpPr>
        <p:spPr>
          <a:xfrm>
            <a:off x="0" y="444500"/>
            <a:ext cx="12192000" cy="0"/>
          </a:xfrm>
          <a:prstGeom prst="line">
            <a:avLst/>
          </a:prstGeom>
          <a:ln w="19050" cap="flat">
            <a:solidFill>
              <a:srgbClr val="4A4A4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0" y="6413500"/>
            <a:ext cx="12192000" cy="0"/>
          </a:xfrm>
          <a:prstGeom prst="line">
            <a:avLst/>
          </a:prstGeom>
          <a:ln w="19050" cap="flat">
            <a:solidFill>
              <a:srgbClr val="4A4A4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431D145-DED0-81CB-58FA-8A61C722FC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03" y="3599674"/>
            <a:ext cx="3713737" cy="2675795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D4909F67-0F83-268C-24EA-F8EE78360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21" name="Slide Number Placeholder 18">
            <a:extLst>
              <a:ext uri="{FF2B5EF4-FFF2-40B4-BE49-F238E27FC236}">
                <a16:creationId xmlns:a16="http://schemas.microsoft.com/office/drawing/2014/main" id="{E7EA9EF7-AA5A-24D3-243A-A819A0675EA4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6590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13</a:t>
            </a:fld>
            <a:endParaRPr lang="en-US" sz="3200" b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44500" y="298097"/>
            <a:ext cx="5549900" cy="2594453"/>
            <a:chOff x="0" y="171450"/>
            <a:chExt cx="11099800" cy="5188906"/>
          </a:xfrm>
        </p:grpSpPr>
        <p:sp>
          <p:nvSpPr>
            <p:cNvPr id="3" name="TextBox 3"/>
            <p:cNvSpPr txBox="1"/>
            <p:nvPr/>
          </p:nvSpPr>
          <p:spPr>
            <a:xfrm>
              <a:off x="0" y="2057400"/>
              <a:ext cx="11099800" cy="33029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ts val="2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2C3E50"/>
                  </a:solidFill>
                  <a:effectLst/>
                  <a:uLnTx/>
                  <a:uFillTx/>
                  <a:latin typeface="HK Grotesk Light"/>
                  <a:ea typeface="HK Grotesk Light"/>
                  <a:cs typeface="HK Grotesk Light"/>
                  <a:sym typeface="HK Grotesk Light"/>
                </a:rPr>
                <a:t> </a:t>
              </a: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I have implemented a file-based input and output system for each numerical method in the project. The source code for every method is organized into separate, method-specific folders, ensuring clarity and modularity in the overall project structure.</a:t>
              </a: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HK Grotesk Light"/>
                <a:ea typeface="HK Grotesk Light"/>
                <a:cs typeface="HK Grotesk Light"/>
                <a:sym typeface="HK Grotesk Light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71450"/>
              <a:ext cx="11099800" cy="15132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ts val="5866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5866" b="0" i="0" u="none" strike="noStrike" kern="1200" cap="none" spc="0" normalizeH="0" baseline="0" noProof="0" dirty="0">
                  <a:ln>
                    <a:noFill/>
                  </a:ln>
                  <a:solidFill>
                    <a:srgbClr val="2C3E50"/>
                  </a:solidFill>
                  <a:effectLst/>
                  <a:uLnTx/>
                  <a:uFillTx/>
                  <a:latin typeface="Gilda Display"/>
                  <a:ea typeface="Gilda Display"/>
                  <a:cs typeface="Gilda Display"/>
                  <a:sym typeface="Gilda Display"/>
                </a:rPr>
                <a:t>Coding Focus</a:t>
              </a:r>
            </a:p>
          </p:txBody>
        </p:sp>
      </p:grpSp>
      <p:pic>
        <p:nvPicPr>
          <p:cNvPr id="5" name="Picture 2">
            <a:extLst>
              <a:ext uri="{FF2B5EF4-FFF2-40B4-BE49-F238E27FC236}">
                <a16:creationId xmlns:a16="http://schemas.microsoft.com/office/drawing/2014/main" id="{EB692A69-F4D0-4C37-D142-8FB2D22CA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1279" y="2627739"/>
            <a:ext cx="5784573" cy="1664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D53F7D5-FDCF-66AF-2526-CC6BB7761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46" y="4397888"/>
            <a:ext cx="1691787" cy="134885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CB51D3A-B8A6-3DBC-9C7C-F49BCD672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8651" y="4308172"/>
            <a:ext cx="2415749" cy="1844200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A3FDE21-A3DA-F8A2-8CA8-F7A0595FE331}"/>
              </a:ext>
            </a:extLst>
          </p:cNvPr>
          <p:cNvCxnSpPr/>
          <p:nvPr/>
        </p:nvCxnSpPr>
        <p:spPr>
          <a:xfrm flipV="1">
            <a:off x="1940560" y="4308172"/>
            <a:ext cx="609600" cy="764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FE63E88-AA5B-58D5-99CA-EF25D9F1A10D}"/>
              </a:ext>
            </a:extLst>
          </p:cNvPr>
          <p:cNvCxnSpPr>
            <a:stCxn id="5" idx="2"/>
          </p:cNvCxnSpPr>
          <p:nvPr/>
        </p:nvCxnSpPr>
        <p:spPr>
          <a:xfrm>
            <a:off x="2811008" y="4291885"/>
            <a:ext cx="623072" cy="7804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Group 2">
            <a:extLst>
              <a:ext uri="{FF2B5EF4-FFF2-40B4-BE49-F238E27FC236}">
                <a16:creationId xmlns:a16="http://schemas.microsoft.com/office/drawing/2014/main" id="{691D798B-D53A-FF10-2B31-E697C2CE924D}"/>
              </a:ext>
            </a:extLst>
          </p:cNvPr>
          <p:cNvGrpSpPr/>
          <p:nvPr/>
        </p:nvGrpSpPr>
        <p:grpSpPr>
          <a:xfrm>
            <a:off x="6197602" y="278926"/>
            <a:ext cx="5549900" cy="2231328"/>
            <a:chOff x="0" y="171450"/>
            <a:chExt cx="11099800" cy="4462656"/>
          </a:xfrm>
        </p:grpSpPr>
        <p:sp>
          <p:nvSpPr>
            <p:cNvPr id="24" name="TextBox 3">
              <a:extLst>
                <a:ext uri="{FF2B5EF4-FFF2-40B4-BE49-F238E27FC236}">
                  <a16:creationId xmlns:a16="http://schemas.microsoft.com/office/drawing/2014/main" id="{63D895E3-D39E-4709-2620-CE7C381075A0}"/>
                </a:ext>
              </a:extLst>
            </p:cNvPr>
            <p:cNvSpPr txBox="1"/>
            <p:nvPr/>
          </p:nvSpPr>
          <p:spPr>
            <a:xfrm>
              <a:off x="0" y="3328620"/>
              <a:ext cx="11099800" cy="13054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ts val="2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All input and output formats for the implemented modules are documented in the 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README.md</a:t>
              </a:r>
              <a:r>
                <a: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 file.</a:t>
              </a:r>
              <a:endPara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HK Grotesk Light"/>
                <a:ea typeface="HK Grotesk Light"/>
                <a:cs typeface="HK Grotesk Light"/>
                <a:sym typeface="HK Grotesk Light"/>
              </a:endParaRPr>
            </a:p>
          </p:txBody>
        </p:sp>
        <p:sp>
          <p:nvSpPr>
            <p:cNvPr id="25" name="TextBox 4">
              <a:extLst>
                <a:ext uri="{FF2B5EF4-FFF2-40B4-BE49-F238E27FC236}">
                  <a16:creationId xmlns:a16="http://schemas.microsoft.com/office/drawing/2014/main" id="{30370766-4EFD-FA76-0B98-12CBDA9BC767}"/>
                </a:ext>
              </a:extLst>
            </p:cNvPr>
            <p:cNvSpPr txBox="1"/>
            <p:nvPr/>
          </p:nvSpPr>
          <p:spPr>
            <a:xfrm>
              <a:off x="0" y="171450"/>
              <a:ext cx="11099800" cy="3045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ts val="5866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5866" b="0" i="0" u="none" strike="noStrike" kern="1200" cap="none" spc="0" normalizeH="0" baseline="0" noProof="0" dirty="0">
                  <a:ln>
                    <a:noFill/>
                  </a:ln>
                  <a:solidFill>
                    <a:srgbClr val="2C3E50"/>
                  </a:solidFill>
                  <a:effectLst/>
                  <a:uLnTx/>
                  <a:uFillTx/>
                  <a:latin typeface="Gilda Display"/>
                  <a:ea typeface="Gilda Display"/>
                  <a:cs typeface="Gilda Display"/>
                  <a:sym typeface="Gilda Display"/>
                </a:rPr>
                <a:t>I/O Format In README.md</a:t>
              </a: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A0DFF05C-7743-0BD9-F294-B4C5F442B0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2935" y="2625085"/>
            <a:ext cx="5459233" cy="177280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5D1CC87-77C0-7507-A31D-AD86ADAE4D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6432" y="4690244"/>
            <a:ext cx="4663844" cy="19243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57513B7-BA98-7A6C-C194-6043C33BF565}"/>
              </a:ext>
            </a:extLst>
          </p:cNvPr>
          <p:cNvSpPr txBox="1"/>
          <p:nvPr/>
        </p:nvSpPr>
        <p:spPr>
          <a:xfrm flipH="1">
            <a:off x="444500" y="6152372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2.1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42735D-5956-985E-7EF9-A040AE9CC856}"/>
              </a:ext>
            </a:extLst>
          </p:cNvPr>
          <p:cNvSpPr txBox="1"/>
          <p:nvPr/>
        </p:nvSpPr>
        <p:spPr>
          <a:xfrm flipH="1">
            <a:off x="4473956" y="6200466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2.2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0997-D8C3-0C59-E5EE-0D129DDEEA40}"/>
              </a:ext>
            </a:extLst>
          </p:cNvPr>
          <p:cNvSpPr txBox="1"/>
          <p:nvPr/>
        </p:nvSpPr>
        <p:spPr>
          <a:xfrm flipH="1">
            <a:off x="8344703" y="4369006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2.3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5B5F76-ABED-C073-11A0-4660461B4893}"/>
              </a:ext>
            </a:extLst>
          </p:cNvPr>
          <p:cNvSpPr txBox="1"/>
          <p:nvPr/>
        </p:nvSpPr>
        <p:spPr>
          <a:xfrm flipH="1">
            <a:off x="8503412" y="6537659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2.4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7B8D11D-8F78-DA10-9986-ADCD7960B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15" name="Slide Number Placeholder 18">
            <a:extLst>
              <a:ext uri="{FF2B5EF4-FFF2-40B4-BE49-F238E27FC236}">
                <a16:creationId xmlns:a16="http://schemas.microsoft.com/office/drawing/2014/main" id="{D286587E-C323-0497-562D-43E404304EF4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6590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14</a:t>
            </a:fld>
            <a:endParaRPr lang="en-US" sz="3200" b="1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44500" y="482600"/>
            <a:ext cx="3835400" cy="2039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5280"/>
              </a:lnSpc>
              <a:spcBef>
                <a:spcPct val="0"/>
              </a:spcBef>
            </a:pPr>
            <a:r>
              <a:rPr lang="en-US" sz="4800">
                <a:solidFill>
                  <a:srgbClr val="ECF0F1"/>
                </a:solidFill>
                <a:latin typeface="Georgia Pro Condensed Light"/>
                <a:ea typeface="Georgia Pro Condensed Light"/>
                <a:cs typeface="Georgia Pro Condensed Light"/>
                <a:sym typeface="Georgia Pro Condensed Light"/>
              </a:rPr>
              <a:t>Numerical Methods that I Implemeted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238750" y="444500"/>
            <a:ext cx="2876550" cy="1517438"/>
            <a:chOff x="0" y="12700"/>
            <a:chExt cx="5753100" cy="3034874"/>
          </a:xfrm>
        </p:grpSpPr>
        <p:sp>
          <p:nvSpPr>
            <p:cNvPr id="4" name="AutoShape 4"/>
            <p:cNvSpPr/>
            <p:nvPr/>
          </p:nvSpPr>
          <p:spPr>
            <a:xfrm flipV="1">
              <a:off x="0" y="12700"/>
              <a:ext cx="5753100" cy="0"/>
            </a:xfrm>
            <a:prstGeom prst="line">
              <a:avLst/>
            </a:prstGeom>
            <a:ln w="25400" cap="flat">
              <a:solidFill>
                <a:srgbClr val="ECF0F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1555115"/>
              <a:ext cx="5753100" cy="14924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60"/>
                </a:lnSpc>
              </a:pPr>
              <a:r>
                <a:rPr lang="en-US" sz="1400" dirty="0">
                  <a:solidFill>
                    <a:srgbClr val="ECF0F1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A reliable technique for finding roots of nonlinear equations by repeatedly halving intervals.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614046"/>
              <a:ext cx="575310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40"/>
                </a:lnSpc>
              </a:pPr>
              <a:r>
                <a:rPr lang="en-US" sz="2133">
                  <a:solidFill>
                    <a:srgbClr val="ECF0F1"/>
                  </a:solidFill>
                  <a:latin typeface="Georgia Pro Condensed Light"/>
                  <a:ea typeface="Georgia Pro Condensed Light"/>
                  <a:cs typeface="Georgia Pro Condensed Light"/>
                  <a:sym typeface="Georgia Pro Condensed Light"/>
                </a:rPr>
                <a:t>Bisection Method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870950" y="444500"/>
            <a:ext cx="2876550" cy="1517438"/>
            <a:chOff x="0" y="12700"/>
            <a:chExt cx="5753100" cy="3034874"/>
          </a:xfrm>
        </p:grpSpPr>
        <p:sp>
          <p:nvSpPr>
            <p:cNvPr id="8" name="AutoShape 8"/>
            <p:cNvSpPr/>
            <p:nvPr/>
          </p:nvSpPr>
          <p:spPr>
            <a:xfrm>
              <a:off x="0" y="12700"/>
              <a:ext cx="5753100" cy="0"/>
            </a:xfrm>
            <a:prstGeom prst="line">
              <a:avLst/>
            </a:prstGeom>
            <a:ln w="25400" cap="flat">
              <a:solidFill>
                <a:srgbClr val="ECF0F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1555115"/>
              <a:ext cx="5753100" cy="14924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60"/>
                </a:lnSpc>
              </a:pPr>
              <a:r>
                <a:rPr lang="en-US" sz="1400">
                  <a:solidFill>
                    <a:srgbClr val="ECF0F1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Factorizes a matrix into lower and upper triangular matrices to solve linear systems efficiently.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614046"/>
              <a:ext cx="575310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40"/>
                </a:lnSpc>
              </a:pPr>
              <a:r>
                <a:rPr lang="en-US" sz="2133">
                  <a:solidFill>
                    <a:srgbClr val="ECF0F1"/>
                  </a:solidFill>
                  <a:latin typeface="Georgia Pro Condensed Light"/>
                  <a:ea typeface="Georgia Pro Condensed Light"/>
                  <a:cs typeface="Georgia Pro Condensed Light"/>
                  <a:sym typeface="Georgia Pro Condensed Light"/>
                </a:rPr>
                <a:t>LU Decomposition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238750" y="3429000"/>
            <a:ext cx="2876550" cy="1517438"/>
            <a:chOff x="0" y="12700"/>
            <a:chExt cx="5753100" cy="3034874"/>
          </a:xfrm>
        </p:grpSpPr>
        <p:sp>
          <p:nvSpPr>
            <p:cNvPr id="12" name="AutoShape 12"/>
            <p:cNvSpPr/>
            <p:nvPr/>
          </p:nvSpPr>
          <p:spPr>
            <a:xfrm flipV="1">
              <a:off x="0" y="12700"/>
              <a:ext cx="5753100" cy="0"/>
            </a:xfrm>
            <a:prstGeom prst="line">
              <a:avLst/>
            </a:prstGeom>
            <a:ln w="25400" cap="flat">
              <a:solidFill>
                <a:srgbClr val="ECF0F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1555115"/>
              <a:ext cx="5753100" cy="14924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60"/>
                </a:lnSpc>
              </a:pPr>
              <a:r>
                <a:rPr lang="en-US" sz="1400">
                  <a:solidFill>
                    <a:srgbClr val="ECF0F1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A fourth-order Runge-Kutta method used to solve ordinary differential equations with high accuracy.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614046"/>
              <a:ext cx="575310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40"/>
                </a:lnSpc>
              </a:pPr>
              <a:r>
                <a:rPr lang="en-US" sz="2133">
                  <a:solidFill>
                    <a:srgbClr val="ECF0F1"/>
                  </a:solidFill>
                  <a:latin typeface="Georgia Pro Condensed Light"/>
                  <a:ea typeface="Georgia Pro Condensed Light"/>
                  <a:cs typeface="Georgia Pro Condensed Light"/>
                  <a:sym typeface="Georgia Pro Condensed Light"/>
                </a:rPr>
                <a:t>RK4 Method</a:t>
              </a:r>
            </a:p>
          </p:txBody>
        </p:sp>
      </p:grp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B6394979-FE71-7F32-4588-4BF6B1A5B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18" name="Slide Number Placeholder 18">
            <a:extLst>
              <a:ext uri="{FF2B5EF4-FFF2-40B4-BE49-F238E27FC236}">
                <a16:creationId xmlns:a16="http://schemas.microsoft.com/office/drawing/2014/main" id="{5F79E145-C17A-2CE6-036C-D420836BD779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6590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15</a:t>
            </a:fld>
            <a:endParaRPr lang="en-US" sz="3200" b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44500" y="482600"/>
            <a:ext cx="4038600" cy="20390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5280"/>
              </a:lnSpc>
              <a:spcBef>
                <a:spcPct val="0"/>
              </a:spcBef>
            </a:pPr>
            <a:r>
              <a:rPr lang="en-US" sz="4800" dirty="0">
                <a:solidFill>
                  <a:srgbClr val="ECF0F1"/>
                </a:solidFill>
                <a:latin typeface="Georgia Pro Condensed Light"/>
                <a:ea typeface="Georgia Pro Condensed Light"/>
                <a:cs typeface="Georgia Pro Condensed Light"/>
                <a:sym typeface="Georgia Pro Condensed Light"/>
              </a:rPr>
              <a:t>Numerical Methods that I Implemented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5238750" y="444500"/>
            <a:ext cx="2876550" cy="1690158"/>
            <a:chOff x="0" y="12700"/>
            <a:chExt cx="5753100" cy="3380314"/>
          </a:xfrm>
        </p:grpSpPr>
        <p:sp>
          <p:nvSpPr>
            <p:cNvPr id="4" name="AutoShape 4"/>
            <p:cNvSpPr/>
            <p:nvPr/>
          </p:nvSpPr>
          <p:spPr>
            <a:xfrm flipV="1">
              <a:off x="0" y="12700"/>
              <a:ext cx="5753100" cy="0"/>
            </a:xfrm>
            <a:prstGeom prst="line">
              <a:avLst/>
            </a:prstGeom>
            <a:ln w="25400" cap="flat">
              <a:solidFill>
                <a:srgbClr val="ECF0F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1900555"/>
              <a:ext cx="5753100" cy="14924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60"/>
                </a:lnSpc>
              </a:pPr>
              <a:r>
                <a:rPr lang="en-US" sz="1400" dirty="0">
                  <a:solidFill>
                    <a:srgbClr val="ECF0F1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Estimates function values at points near the start using equally spaced known x values.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614046"/>
              <a:ext cx="5753100" cy="11285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40"/>
                </a:lnSpc>
              </a:pPr>
              <a:r>
                <a:rPr lang="en-US" sz="2133" dirty="0">
                  <a:solidFill>
                    <a:srgbClr val="ECF0F1"/>
                  </a:solidFill>
                  <a:latin typeface="Georgia Pro Condensed Light"/>
                  <a:ea typeface="Georgia Pro Condensed Light"/>
                  <a:cs typeface="Georgia Pro Condensed Light"/>
                  <a:sym typeface="Georgia Pro Condensed Light"/>
                </a:rPr>
                <a:t>Newton's Forward Interpolation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870950" y="444500"/>
            <a:ext cx="2876550" cy="1690158"/>
            <a:chOff x="0" y="12700"/>
            <a:chExt cx="5753100" cy="3380314"/>
          </a:xfrm>
        </p:grpSpPr>
        <p:sp>
          <p:nvSpPr>
            <p:cNvPr id="8" name="AutoShape 8"/>
            <p:cNvSpPr/>
            <p:nvPr/>
          </p:nvSpPr>
          <p:spPr>
            <a:xfrm>
              <a:off x="0" y="12700"/>
              <a:ext cx="5753100" cy="0"/>
            </a:xfrm>
            <a:prstGeom prst="line">
              <a:avLst/>
            </a:prstGeom>
            <a:ln w="25400" cap="flat">
              <a:solidFill>
                <a:srgbClr val="ECF0F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1900555"/>
              <a:ext cx="5753100" cy="14924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60"/>
                </a:lnSpc>
              </a:pPr>
              <a:r>
                <a:rPr lang="en-US" sz="1400" dirty="0">
                  <a:solidFill>
                    <a:srgbClr val="ECF0F1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Estimates function values at points near the end using equally spaced known x values.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614046"/>
              <a:ext cx="5753100" cy="11285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40"/>
                </a:lnSpc>
              </a:pPr>
              <a:r>
                <a:rPr lang="en-US" sz="2133" dirty="0">
                  <a:solidFill>
                    <a:srgbClr val="ECF0F1"/>
                  </a:solidFill>
                  <a:latin typeface="Georgia Pro Condensed Light"/>
                  <a:ea typeface="Georgia Pro Condensed Light"/>
                  <a:cs typeface="Georgia Pro Condensed Light"/>
                  <a:sym typeface="Georgia Pro Condensed Light"/>
                </a:rPr>
                <a:t>Newton's Backward Interpolation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238750" y="3429000"/>
            <a:ext cx="2876550" cy="1714539"/>
            <a:chOff x="0" y="12700"/>
            <a:chExt cx="5753100" cy="3429076"/>
          </a:xfrm>
        </p:grpSpPr>
        <p:sp>
          <p:nvSpPr>
            <p:cNvPr id="12" name="AutoShape 12"/>
            <p:cNvSpPr/>
            <p:nvPr/>
          </p:nvSpPr>
          <p:spPr>
            <a:xfrm flipV="1">
              <a:off x="0" y="12700"/>
              <a:ext cx="5753100" cy="0"/>
            </a:xfrm>
            <a:prstGeom prst="line">
              <a:avLst/>
            </a:prstGeom>
            <a:ln w="25400" cap="flat">
              <a:solidFill>
                <a:srgbClr val="ECF0F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1949317"/>
              <a:ext cx="5753100" cy="14924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60"/>
                </a:lnSpc>
              </a:pPr>
              <a:r>
                <a:rPr lang="en-US" sz="1400" dirty="0">
                  <a:solidFill>
                    <a:srgbClr val="ECF0F1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Estimates function values when known x points may not be equally spaced, providing greater flexibility.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584966"/>
              <a:ext cx="5753100" cy="11285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40"/>
                </a:lnSpc>
              </a:pPr>
              <a:r>
                <a:rPr lang="en-US" sz="2133" dirty="0">
                  <a:solidFill>
                    <a:srgbClr val="ECF0F1"/>
                  </a:solidFill>
                  <a:latin typeface="Georgia Pro Condensed Light"/>
                  <a:ea typeface="Georgia Pro Condensed Light"/>
                  <a:cs typeface="Georgia Pro Condensed Light"/>
                  <a:sym typeface="Georgia Pro Condensed Light"/>
                </a:rPr>
                <a:t>Divided Difference Interpolation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8870950" y="3429000"/>
            <a:ext cx="2876550" cy="1796838"/>
            <a:chOff x="0" y="12700"/>
            <a:chExt cx="5753100" cy="3593674"/>
          </a:xfrm>
        </p:grpSpPr>
        <p:sp>
          <p:nvSpPr>
            <p:cNvPr id="16" name="AutoShape 16"/>
            <p:cNvSpPr/>
            <p:nvPr/>
          </p:nvSpPr>
          <p:spPr>
            <a:xfrm>
              <a:off x="0" y="12700"/>
              <a:ext cx="5753100" cy="0"/>
            </a:xfrm>
            <a:prstGeom prst="line">
              <a:avLst/>
            </a:prstGeom>
            <a:ln w="25400" cap="flat">
              <a:solidFill>
                <a:srgbClr val="ECF0F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2113915"/>
              <a:ext cx="5753100" cy="14924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60"/>
                </a:lnSpc>
              </a:pPr>
              <a:r>
                <a:rPr lang="en-US" sz="1400">
                  <a:solidFill>
                    <a:srgbClr val="ECF0F1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Calculates the residue error, enhancing precision by analyzing differences in the estimated values.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614046"/>
              <a:ext cx="5753100" cy="11285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40"/>
                </a:lnSpc>
              </a:pPr>
              <a:r>
                <a:rPr lang="en-US" sz="2133" dirty="0">
                  <a:solidFill>
                    <a:srgbClr val="ECF0F1"/>
                  </a:solidFill>
                  <a:latin typeface="Georgia Pro Condensed Light"/>
                  <a:ea typeface="Georgia Pro Condensed Light"/>
                  <a:cs typeface="Georgia Pro Condensed Light"/>
                  <a:sym typeface="Georgia Pro Condensed Light"/>
                </a:rPr>
                <a:t>Divided Difference for Error Calculation</a:t>
              </a:r>
            </a:p>
          </p:txBody>
        </p: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512B30E1-836C-FF04-B8D0-133E443F5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35" y="3037920"/>
            <a:ext cx="3020060" cy="2105619"/>
          </a:xfrm>
          <a:prstGeom prst="rect">
            <a:avLst/>
          </a:prstGeom>
        </p:spPr>
      </p:pic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60102ADD-5535-12AD-FC19-F974D6B58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23" name="Slide Number Placeholder 18">
            <a:extLst>
              <a:ext uri="{FF2B5EF4-FFF2-40B4-BE49-F238E27FC236}">
                <a16:creationId xmlns:a16="http://schemas.microsoft.com/office/drawing/2014/main" id="{CB152C73-6705-C0C7-932F-A5329CE029E5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6590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16</a:t>
            </a:fld>
            <a:endParaRPr lang="en-US" sz="3200" b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841625" y="254819"/>
            <a:ext cx="6508750" cy="2786350"/>
            <a:chOff x="4794250" y="-1573162"/>
            <a:chExt cx="13017500" cy="5572700"/>
          </a:xfrm>
        </p:grpSpPr>
        <p:sp>
          <p:nvSpPr>
            <p:cNvPr id="3" name="TextBox 3"/>
            <p:cNvSpPr txBox="1"/>
            <p:nvPr/>
          </p:nvSpPr>
          <p:spPr>
            <a:xfrm>
              <a:off x="4794250" y="-1573162"/>
              <a:ext cx="13017500" cy="27860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609630" rtl="0" eaLnBrk="1" fontAlgn="auto" latinLnBrk="0" hangingPunct="1">
                <a:lnSpc>
                  <a:spcPts val="5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4666" b="0" i="0" u="none" strike="noStrike" kern="1200" cap="none" spc="-93" normalizeH="0" baseline="0" noProof="0" dirty="0">
                  <a:ln>
                    <a:noFill/>
                  </a:ln>
                  <a:solidFill>
                    <a:srgbClr val="4A4A4A"/>
                  </a:solidFill>
                  <a:effectLst/>
                  <a:uLnTx/>
                  <a:uFillTx/>
                  <a:latin typeface="Tenor Sans"/>
                  <a:ea typeface="Tenor Sans"/>
                  <a:cs typeface="Tenor Sans"/>
                  <a:sym typeface="Tenor Sans"/>
                </a:rPr>
                <a:t>Theory and Algorithms Overview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4794250" y="1554722"/>
              <a:ext cx="13017500" cy="5165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609630" rtl="0" eaLnBrk="1" fontAlgn="auto" latinLnBrk="0" hangingPunct="1">
                <a:lnSpc>
                  <a:spcPts val="224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6C757D"/>
                  </a:solidFill>
                  <a:effectLst/>
                  <a:uLnTx/>
                  <a:uFillTx/>
                  <a:latin typeface="Clear Sans Medium"/>
                  <a:ea typeface="Clear Sans Medium"/>
                  <a:cs typeface="Clear Sans Medium"/>
                  <a:sym typeface="Clear Sans Medium"/>
                </a:rPr>
                <a:t>SEE README.md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4794250" y="3020166"/>
              <a:ext cx="13017500" cy="9793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l" defTabSz="609630" rtl="0" eaLnBrk="1" fontAlgn="auto" latinLnBrk="0" hangingPunct="1">
                <a:lnSpc>
                  <a:spcPts val="19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399" b="0" i="0" u="none" strike="noStrike" kern="1200" cap="none" spc="0" normalizeH="0" baseline="0" noProof="0" dirty="0">
                  <a:ln>
                    <a:noFill/>
                  </a:ln>
                  <a:solidFill>
                    <a:srgbClr val="4A4A4A"/>
                  </a:solidFill>
                  <a:effectLst/>
                  <a:uLnTx/>
                  <a:uFillTx/>
                  <a:latin typeface="Clear Sans"/>
                  <a:ea typeface="Clear Sans"/>
                  <a:cs typeface="Clear Sans"/>
                  <a:sym typeface="Clear Sans"/>
                </a:rPr>
                <a:t>The brief theory and algorithm for the methods implemented is included in the README.md.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FF142C8C-7E9C-0FD6-6202-AAF7A1E47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1625" y="3515615"/>
            <a:ext cx="3237637" cy="17222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BA2C5E-58FC-A7C6-EE82-9805A47072A9}"/>
              </a:ext>
            </a:extLst>
          </p:cNvPr>
          <p:cNvSpPr txBox="1"/>
          <p:nvPr/>
        </p:nvSpPr>
        <p:spPr>
          <a:xfrm flipH="1">
            <a:off x="4001891" y="5342998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2.5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C91106C-50B8-0672-58F6-BEABB36F2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11" name="Slide Number Placeholder 18">
            <a:extLst>
              <a:ext uri="{FF2B5EF4-FFF2-40B4-BE49-F238E27FC236}">
                <a16:creationId xmlns:a16="http://schemas.microsoft.com/office/drawing/2014/main" id="{A0F2D4E9-B964-DCF5-C9F2-6A0C511F758B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6590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17</a:t>
            </a:fld>
            <a:endParaRPr lang="en-US" sz="3200" b="1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2C143-1A57-10F2-FE17-1EBECD7AB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5800" y="883285"/>
            <a:ext cx="8864600" cy="1325563"/>
          </a:xfrm>
        </p:spPr>
        <p:txBody>
          <a:bodyPr/>
          <a:lstStyle/>
          <a:p>
            <a:r>
              <a:rPr lang="en-US" b="1" dirty="0"/>
              <a:t>Thank You for Your Attention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85661-A95C-46FC-8276-89C4686618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360" y="2646364"/>
            <a:ext cx="10515600" cy="118871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 will now hand over to 2207009, who will explain the next steps of the project.</a:t>
            </a:r>
          </a:p>
        </p:txBody>
      </p:sp>
      <p:sp>
        <p:nvSpPr>
          <p:cNvPr id="7" name="Slide Number Placeholder 18">
            <a:extLst>
              <a:ext uri="{FF2B5EF4-FFF2-40B4-BE49-F238E27FC236}">
                <a16:creationId xmlns:a16="http://schemas.microsoft.com/office/drawing/2014/main" id="{40E9A4BF-FA70-05FB-DF9E-BDC3666F0C79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6590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18</a:t>
            </a:fld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431307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746D3-FD68-DF9E-483B-75F192523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B29A8B3-61EB-D3E1-DDB4-6F43C92ACA49}"/>
              </a:ext>
            </a:extLst>
          </p:cNvPr>
          <p:cNvGrpSpPr/>
          <p:nvPr/>
        </p:nvGrpSpPr>
        <p:grpSpPr>
          <a:xfrm>
            <a:off x="6197600" y="0"/>
            <a:ext cx="5994400" cy="6858000"/>
            <a:chOff x="0" y="0"/>
            <a:chExt cx="1393034" cy="1593725"/>
          </a:xfrm>
        </p:grpSpPr>
        <p:sp>
          <p:nvSpPr>
            <p:cNvPr id="8" name="Freeform 3">
              <a:extLst>
                <a:ext uri="{FF2B5EF4-FFF2-40B4-BE49-F238E27FC236}">
                  <a16:creationId xmlns:a16="http://schemas.microsoft.com/office/drawing/2014/main" id="{5E109B21-1C0E-57A3-FDF1-1FAC1E9A670F}"/>
                </a:ext>
              </a:extLst>
            </p:cNvPr>
            <p:cNvSpPr/>
            <p:nvPr/>
          </p:nvSpPr>
          <p:spPr>
            <a:xfrm>
              <a:off x="0" y="0"/>
              <a:ext cx="1393034" cy="1593725"/>
            </a:xfrm>
            <a:custGeom>
              <a:avLst/>
              <a:gdLst/>
              <a:ahLst/>
              <a:cxnLst/>
              <a:rect l="l" t="t" r="r" b="b"/>
              <a:pathLst>
                <a:path w="1393034" h="1593725">
                  <a:moveTo>
                    <a:pt x="0" y="0"/>
                  </a:moveTo>
                  <a:lnTo>
                    <a:pt x="1393034" y="0"/>
                  </a:lnTo>
                  <a:lnTo>
                    <a:pt x="1393034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3"/>
              <a:stretch>
                <a:fillRect t="-378" b="-37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5">
            <a:extLst>
              <a:ext uri="{FF2B5EF4-FFF2-40B4-BE49-F238E27FC236}">
                <a16:creationId xmlns:a16="http://schemas.microsoft.com/office/drawing/2014/main" id="{219B3EC4-5FC9-8936-67F6-3E8AA841A507}"/>
              </a:ext>
            </a:extLst>
          </p:cNvPr>
          <p:cNvGrpSpPr/>
          <p:nvPr/>
        </p:nvGrpSpPr>
        <p:grpSpPr>
          <a:xfrm>
            <a:off x="254000" y="482601"/>
            <a:ext cx="6522720" cy="4788465"/>
            <a:chOff x="-381000" y="-3876038"/>
            <a:chExt cx="13045440" cy="9576931"/>
          </a:xfrm>
        </p:grpSpPr>
        <p:sp>
          <p:nvSpPr>
            <p:cNvPr id="13" name="TextBox 6">
              <a:extLst>
                <a:ext uri="{FF2B5EF4-FFF2-40B4-BE49-F238E27FC236}">
                  <a16:creationId xmlns:a16="http://schemas.microsoft.com/office/drawing/2014/main" id="{D1E36D7D-B987-3412-A51B-6654449BB1AA}"/>
                </a:ext>
              </a:extLst>
            </p:cNvPr>
            <p:cNvSpPr txBox="1"/>
            <p:nvPr/>
          </p:nvSpPr>
          <p:spPr>
            <a:xfrm>
              <a:off x="-218440" y="4008121"/>
              <a:ext cx="10871200" cy="169277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2239"/>
                </a:lnSpc>
                <a:spcBef>
                  <a:spcPct val="0"/>
                </a:spcBef>
              </a:pPr>
              <a:r>
                <a:rPr lang="en-US" sz="1866" dirty="0">
                  <a:solidFill>
                    <a:srgbClr val="4A4A4A"/>
                  </a:solidFill>
                  <a:latin typeface="HK Grotesk"/>
                  <a:ea typeface="HK Grotesk"/>
                  <a:cs typeface="HK Grotesk"/>
                  <a:sym typeface="HK Grotesk"/>
                </a:rPr>
                <a:t>Name: Md Istiaque Ahmed Asif</a:t>
              </a:r>
            </a:p>
            <a:p>
              <a:pPr>
                <a:lnSpc>
                  <a:spcPts val="2239"/>
                </a:lnSpc>
                <a:spcBef>
                  <a:spcPct val="0"/>
                </a:spcBef>
              </a:pPr>
              <a:r>
                <a:rPr lang="en-US" sz="1866" dirty="0">
                  <a:solidFill>
                    <a:srgbClr val="4A4A4A"/>
                  </a:solidFill>
                  <a:latin typeface="HK Grotesk"/>
                  <a:ea typeface="HK Grotesk"/>
                  <a:cs typeface="HK Grotesk"/>
                  <a:sym typeface="HK Grotesk"/>
                </a:rPr>
                <a:t>Roll: 2207009</a:t>
              </a:r>
            </a:p>
            <a:p>
              <a:pPr>
                <a:lnSpc>
                  <a:spcPts val="2239"/>
                </a:lnSpc>
                <a:spcBef>
                  <a:spcPct val="0"/>
                </a:spcBef>
              </a:pPr>
              <a:r>
                <a:rPr lang="en-US" sz="1866" dirty="0">
                  <a:solidFill>
                    <a:srgbClr val="4A4A4A"/>
                  </a:solidFill>
                  <a:latin typeface="HK Grotesk"/>
                  <a:ea typeface="HK Grotesk"/>
                  <a:cs typeface="HK Grotesk"/>
                  <a:sym typeface="HK Grotesk"/>
                </a:rPr>
                <a:t>Role: Implementation &amp; created README.md template</a:t>
              </a:r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3837AE41-C2EC-6CCA-5C7C-0C2432CDB8AE}"/>
                </a:ext>
              </a:extLst>
            </p:cNvPr>
            <p:cNvSpPr txBox="1"/>
            <p:nvPr/>
          </p:nvSpPr>
          <p:spPr>
            <a:xfrm>
              <a:off x="-381000" y="-3876038"/>
              <a:ext cx="13045440" cy="738663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9600"/>
                </a:lnSpc>
              </a:pPr>
              <a:r>
                <a:rPr lang="en-US" sz="9600" spc="-192" dirty="0">
                  <a:solidFill>
                    <a:srgbClr val="1A73E8"/>
                  </a:solidFill>
                  <a:latin typeface="Noto Serif Display ExtraCondensed Light"/>
                  <a:ea typeface="Noto Serif Display ExtraCondensed Light"/>
                  <a:cs typeface="Noto Serif Display ExtraCondensed Light"/>
                  <a:sym typeface="Noto Serif Display ExtraCondensed Light"/>
                </a:rPr>
                <a:t>Numerical Methods Project </a:t>
              </a:r>
            </a:p>
          </p:txBody>
        </p:sp>
      </p:grpSp>
      <p:sp>
        <p:nvSpPr>
          <p:cNvPr id="6" name="Slide Number Placeholder 18">
            <a:extLst>
              <a:ext uri="{FF2B5EF4-FFF2-40B4-BE49-F238E27FC236}">
                <a16:creationId xmlns:a16="http://schemas.microsoft.com/office/drawing/2014/main" id="{2DD90CEF-6551-B54D-A776-AEE356C20DCE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6590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19</a:t>
            </a:fld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39076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5F74203-0F51-9AD0-0AF1-D447A7785247}"/>
              </a:ext>
            </a:extLst>
          </p:cNvPr>
          <p:cNvCxnSpPr/>
          <p:nvPr/>
        </p:nvCxnSpPr>
        <p:spPr>
          <a:xfrm flipV="1">
            <a:off x="2098638" y="2446320"/>
            <a:ext cx="609600" cy="764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FA306EB-442C-28EA-292A-2AD1B052897C}"/>
              </a:ext>
            </a:extLst>
          </p:cNvPr>
          <p:cNvCxnSpPr/>
          <p:nvPr/>
        </p:nvCxnSpPr>
        <p:spPr>
          <a:xfrm>
            <a:off x="3134721" y="2438176"/>
            <a:ext cx="623072" cy="7804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oup 2">
            <a:extLst>
              <a:ext uri="{FF2B5EF4-FFF2-40B4-BE49-F238E27FC236}">
                <a16:creationId xmlns:a16="http://schemas.microsoft.com/office/drawing/2014/main" id="{3392CA07-C6CF-5FC2-845B-493E30B03625}"/>
              </a:ext>
            </a:extLst>
          </p:cNvPr>
          <p:cNvGrpSpPr/>
          <p:nvPr/>
        </p:nvGrpSpPr>
        <p:grpSpPr>
          <a:xfrm>
            <a:off x="6136642" y="298097"/>
            <a:ext cx="5549900" cy="1896364"/>
            <a:chOff x="0" y="171450"/>
            <a:chExt cx="11099800" cy="3792728"/>
          </a:xfrm>
        </p:grpSpPr>
        <p:sp>
          <p:nvSpPr>
            <p:cNvPr id="27" name="TextBox 3">
              <a:extLst>
                <a:ext uri="{FF2B5EF4-FFF2-40B4-BE49-F238E27FC236}">
                  <a16:creationId xmlns:a16="http://schemas.microsoft.com/office/drawing/2014/main" id="{D26F6C60-7B90-5FC8-7D04-B424D56C096D}"/>
                </a:ext>
              </a:extLst>
            </p:cNvPr>
            <p:cNvSpPr txBox="1"/>
            <p:nvPr/>
          </p:nvSpPr>
          <p:spPr>
            <a:xfrm>
              <a:off x="0" y="3328620"/>
              <a:ext cx="11099800" cy="6355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600"/>
                </a:lnSpc>
              </a:pPr>
              <a:endParaRPr lang="en-US" sz="2000" dirty="0">
                <a:solidFill>
                  <a:srgbClr val="2C3E50"/>
                </a:solidFill>
                <a:latin typeface="HK Grotesk Light"/>
                <a:ea typeface="HK Grotesk Light"/>
                <a:cs typeface="HK Grotesk Light"/>
                <a:sym typeface="HK Grotesk Light"/>
              </a:endParaRPr>
            </a:p>
          </p:txBody>
        </p:sp>
        <p:sp>
          <p:nvSpPr>
            <p:cNvPr id="28" name="TextBox 4">
              <a:extLst>
                <a:ext uri="{FF2B5EF4-FFF2-40B4-BE49-F238E27FC236}">
                  <a16:creationId xmlns:a16="http://schemas.microsoft.com/office/drawing/2014/main" id="{02725786-7D34-992D-F45F-51B4C2A80826}"/>
                </a:ext>
              </a:extLst>
            </p:cNvPr>
            <p:cNvSpPr txBox="1"/>
            <p:nvPr/>
          </p:nvSpPr>
          <p:spPr>
            <a:xfrm>
              <a:off x="0" y="171450"/>
              <a:ext cx="11099800" cy="153208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5866"/>
                </a:lnSpc>
              </a:pPr>
              <a:endParaRPr lang="en-US" sz="5866" dirty="0">
                <a:solidFill>
                  <a:srgbClr val="2C3E50"/>
                </a:solidFill>
                <a:latin typeface="Gilda Display"/>
                <a:ea typeface="Gilda Display"/>
                <a:cs typeface="Gilda Display"/>
                <a:sym typeface="Gilda Display"/>
              </a:endParaRPr>
            </a:p>
          </p:txBody>
        </p:sp>
      </p:grpSp>
      <p:pic>
        <p:nvPicPr>
          <p:cNvPr id="31" name="Picture 2">
            <a:extLst>
              <a:ext uri="{FF2B5EF4-FFF2-40B4-BE49-F238E27FC236}">
                <a16:creationId xmlns:a16="http://schemas.microsoft.com/office/drawing/2014/main" id="{E2C36CCC-15F7-250F-D948-D65319FC20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027" y="969818"/>
            <a:ext cx="5771388" cy="1719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C318BD6-480B-71BA-FD10-4D80748C13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714" y="3367366"/>
            <a:ext cx="1064724" cy="2273329"/>
          </a:xfrm>
          <a:prstGeom prst="rect">
            <a:avLst/>
          </a:prstGeom>
        </p:spPr>
      </p:pic>
      <p:pic>
        <p:nvPicPr>
          <p:cNvPr id="35" name="Picture 3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1B7C5D6-7AFF-E676-C2ED-8E231FD9F0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3783" y="3300831"/>
            <a:ext cx="2649743" cy="3056145"/>
          </a:xfrm>
          <a:prstGeom prst="rect">
            <a:avLst/>
          </a:prstGeom>
        </p:spPr>
      </p:pic>
      <p:pic>
        <p:nvPicPr>
          <p:cNvPr id="37" name="Picture 3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C049765-40CE-8E3F-397E-2255E82890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1181" y="2584676"/>
            <a:ext cx="3107655" cy="1251576"/>
          </a:xfrm>
          <a:prstGeom prst="rect">
            <a:avLst/>
          </a:prstGeom>
        </p:spPr>
      </p:pic>
      <p:pic>
        <p:nvPicPr>
          <p:cNvPr id="39" name="Picture 3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D8580A87-3595-D811-7EA1-FD12FA52BE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1181" y="4180960"/>
            <a:ext cx="3107655" cy="2242551"/>
          </a:xfrm>
          <a:prstGeom prst="rect">
            <a:avLst/>
          </a:prstGeom>
        </p:spPr>
      </p:pic>
      <p:grpSp>
        <p:nvGrpSpPr>
          <p:cNvPr id="40" name="Group 2">
            <a:extLst>
              <a:ext uri="{FF2B5EF4-FFF2-40B4-BE49-F238E27FC236}">
                <a16:creationId xmlns:a16="http://schemas.microsoft.com/office/drawing/2014/main" id="{C1B3EAA6-89A0-059A-220E-B11034D07468}"/>
              </a:ext>
            </a:extLst>
          </p:cNvPr>
          <p:cNvGrpSpPr/>
          <p:nvPr/>
        </p:nvGrpSpPr>
        <p:grpSpPr>
          <a:xfrm>
            <a:off x="6437050" y="205975"/>
            <a:ext cx="6150961" cy="2183593"/>
            <a:chOff x="528449" y="-319827"/>
            <a:chExt cx="12244526" cy="4694474"/>
          </a:xfrm>
        </p:grpSpPr>
        <p:sp>
          <p:nvSpPr>
            <p:cNvPr id="41" name="TextBox 3">
              <a:extLst>
                <a:ext uri="{FF2B5EF4-FFF2-40B4-BE49-F238E27FC236}">
                  <a16:creationId xmlns:a16="http://schemas.microsoft.com/office/drawing/2014/main" id="{375EE5FF-30C3-0E1D-9688-4364241A5771}"/>
                </a:ext>
              </a:extLst>
            </p:cNvPr>
            <p:cNvSpPr txBox="1"/>
            <p:nvPr/>
          </p:nvSpPr>
          <p:spPr>
            <a:xfrm>
              <a:off x="528449" y="3069162"/>
              <a:ext cx="11099800" cy="13054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600"/>
                </a:lnSpc>
              </a:pPr>
              <a:r>
                <a:rPr lang="en-US" sz="2000" dirty="0"/>
                <a:t>All input and output formats for the implemented modules are documented in the </a:t>
              </a:r>
              <a:r>
                <a:rPr lang="en-US" dirty="0"/>
                <a:t>README.md</a:t>
              </a:r>
              <a:r>
                <a:rPr lang="en-US" sz="2000" dirty="0"/>
                <a:t> file.</a:t>
              </a:r>
              <a:endParaRPr lang="en-US" sz="2000" dirty="0">
                <a:solidFill>
                  <a:srgbClr val="2C3E50"/>
                </a:solidFill>
                <a:latin typeface="HK Grotesk Light"/>
                <a:ea typeface="HK Grotesk Light"/>
                <a:cs typeface="HK Grotesk Light"/>
                <a:sym typeface="HK Grotesk Light"/>
              </a:endParaRPr>
            </a:p>
          </p:txBody>
        </p:sp>
        <p:sp>
          <p:nvSpPr>
            <p:cNvPr id="42" name="TextBox 4">
              <a:extLst>
                <a:ext uri="{FF2B5EF4-FFF2-40B4-BE49-F238E27FC236}">
                  <a16:creationId xmlns:a16="http://schemas.microsoft.com/office/drawing/2014/main" id="{58EEB42D-F048-E561-2980-55F22F7F3A01}"/>
                </a:ext>
              </a:extLst>
            </p:cNvPr>
            <p:cNvSpPr txBox="1"/>
            <p:nvPr/>
          </p:nvSpPr>
          <p:spPr>
            <a:xfrm>
              <a:off x="1673175" y="-319827"/>
              <a:ext cx="11099800" cy="30453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5866"/>
                </a:lnSpc>
              </a:pPr>
              <a:r>
                <a:rPr lang="en-US" sz="5866" dirty="0">
                  <a:solidFill>
                    <a:srgbClr val="2C3E50"/>
                  </a:solidFill>
                  <a:latin typeface="Gilda Display"/>
                  <a:ea typeface="Gilda Display"/>
                  <a:cs typeface="Gilda Display"/>
                  <a:sym typeface="Gilda Display"/>
                </a:rPr>
                <a:t>I/O Format In README.md</a:t>
              </a:r>
            </a:p>
          </p:txBody>
        </p:sp>
      </p:grpSp>
      <p:sp>
        <p:nvSpPr>
          <p:cNvPr id="43" name="TextBox 4">
            <a:extLst>
              <a:ext uri="{FF2B5EF4-FFF2-40B4-BE49-F238E27FC236}">
                <a16:creationId xmlns:a16="http://schemas.microsoft.com/office/drawing/2014/main" id="{5C31FF76-0141-3C6C-5E53-BABED085471B}"/>
              </a:ext>
            </a:extLst>
          </p:cNvPr>
          <p:cNvSpPr txBox="1"/>
          <p:nvPr/>
        </p:nvSpPr>
        <p:spPr>
          <a:xfrm>
            <a:off x="1338714" y="166026"/>
            <a:ext cx="5549900" cy="756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66"/>
              </a:lnSpc>
            </a:pPr>
            <a:r>
              <a:rPr lang="en-US" sz="5866" dirty="0">
                <a:solidFill>
                  <a:srgbClr val="2C3E50"/>
                </a:solidFill>
                <a:latin typeface="Gilda Display"/>
                <a:ea typeface="Gilda Display"/>
                <a:cs typeface="Gilda Display"/>
                <a:sym typeface="Gilda Display"/>
              </a:rPr>
              <a:t>Coding Focus</a:t>
            </a:r>
          </a:p>
        </p:txBody>
      </p:sp>
      <p:sp>
        <p:nvSpPr>
          <p:cNvPr id="44" name="TextBox 4">
            <a:extLst>
              <a:ext uri="{FF2B5EF4-FFF2-40B4-BE49-F238E27FC236}">
                <a16:creationId xmlns:a16="http://schemas.microsoft.com/office/drawing/2014/main" id="{E70BAD40-6484-2FE1-EBC5-6971417DBE83}"/>
              </a:ext>
            </a:extLst>
          </p:cNvPr>
          <p:cNvSpPr txBox="1"/>
          <p:nvPr/>
        </p:nvSpPr>
        <p:spPr>
          <a:xfrm>
            <a:off x="678833" y="630175"/>
            <a:ext cx="5549900" cy="635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66"/>
              </a:lnSpc>
            </a:pPr>
            <a:r>
              <a:rPr lang="en-US" sz="2000" dirty="0">
                <a:solidFill>
                  <a:srgbClr val="2C3E50"/>
                </a:solidFill>
                <a:latin typeface="HK Grotesk Light"/>
                <a:ea typeface="HK Grotesk Light"/>
                <a:cs typeface="HK Grotesk Light"/>
                <a:sym typeface="HK Grotesk Light"/>
              </a:rPr>
              <a:t>I have Implemented file based I/O for each methods</a:t>
            </a:r>
            <a:r>
              <a:rPr lang="en-US" sz="2000" dirty="0">
                <a:latin typeface="Gilda Display"/>
                <a:ea typeface="Gilda Display"/>
                <a:cs typeface="Gilda Display"/>
                <a:sym typeface="Gilda Display"/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3E515E-C1FF-5FBF-9C5D-EADE2876CB58}"/>
              </a:ext>
            </a:extLst>
          </p:cNvPr>
          <p:cNvSpPr txBox="1"/>
          <p:nvPr/>
        </p:nvSpPr>
        <p:spPr>
          <a:xfrm flipH="1">
            <a:off x="1413164" y="5797597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3.1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B9A3A2-2D69-D4F8-7404-B99482FFDD1C}"/>
              </a:ext>
            </a:extLst>
          </p:cNvPr>
          <p:cNvSpPr txBox="1"/>
          <p:nvPr/>
        </p:nvSpPr>
        <p:spPr>
          <a:xfrm flipH="1">
            <a:off x="4412996" y="6423511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3.2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BE128C-9F49-E28F-2C67-E27EC12021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57047" y="2499721"/>
            <a:ext cx="971686" cy="3524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57DD15-9164-AA5C-324D-BA4A7068D72A}"/>
              </a:ext>
            </a:extLst>
          </p:cNvPr>
          <p:cNvSpPr txBox="1"/>
          <p:nvPr/>
        </p:nvSpPr>
        <p:spPr>
          <a:xfrm flipH="1">
            <a:off x="8882949" y="3823940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3.3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19CB7D-8853-CC1F-D020-5BED62A052F4}"/>
              </a:ext>
            </a:extLst>
          </p:cNvPr>
          <p:cNvSpPr txBox="1"/>
          <p:nvPr/>
        </p:nvSpPr>
        <p:spPr>
          <a:xfrm flipH="1">
            <a:off x="8911592" y="6434742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3.4</a:t>
            </a:r>
          </a:p>
        </p:txBody>
      </p:sp>
      <p:sp>
        <p:nvSpPr>
          <p:cNvPr id="10" name="Slide Number Placeholder 18">
            <a:extLst>
              <a:ext uri="{FF2B5EF4-FFF2-40B4-BE49-F238E27FC236}">
                <a16:creationId xmlns:a16="http://schemas.microsoft.com/office/drawing/2014/main" id="{5F099957-E0D3-0FA0-E244-812DCD8757B7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6590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20</a:t>
            </a:fld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23826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">
            <a:extLst>
              <a:ext uri="{FF2B5EF4-FFF2-40B4-BE49-F238E27FC236}">
                <a16:creationId xmlns:a16="http://schemas.microsoft.com/office/drawing/2014/main" id="{46FEC919-D2E8-0243-ACD3-38E04075132F}"/>
              </a:ext>
            </a:extLst>
          </p:cNvPr>
          <p:cNvSpPr txBox="1"/>
          <p:nvPr/>
        </p:nvSpPr>
        <p:spPr>
          <a:xfrm>
            <a:off x="444500" y="482600"/>
            <a:ext cx="3835400" cy="2039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5280"/>
              </a:lnSpc>
              <a:spcBef>
                <a:spcPct val="0"/>
              </a:spcBef>
            </a:pPr>
            <a:r>
              <a:rPr lang="en-US" sz="4800">
                <a:solidFill>
                  <a:srgbClr val="ECF0F1"/>
                </a:solidFill>
                <a:latin typeface="Georgia Pro Condensed Light"/>
                <a:ea typeface="Georgia Pro Condensed Light"/>
                <a:cs typeface="Georgia Pro Condensed Light"/>
                <a:sym typeface="Georgia Pro Condensed Light"/>
              </a:rPr>
              <a:t>Numerical Methods that I Implemeted</a:t>
            </a:r>
          </a:p>
        </p:txBody>
      </p:sp>
      <p:grpSp>
        <p:nvGrpSpPr>
          <p:cNvPr id="5" name="Group 3">
            <a:extLst>
              <a:ext uri="{FF2B5EF4-FFF2-40B4-BE49-F238E27FC236}">
                <a16:creationId xmlns:a16="http://schemas.microsoft.com/office/drawing/2014/main" id="{E00EDFF0-E61D-D18F-2086-72691DDA918D}"/>
              </a:ext>
            </a:extLst>
          </p:cNvPr>
          <p:cNvGrpSpPr/>
          <p:nvPr/>
        </p:nvGrpSpPr>
        <p:grpSpPr>
          <a:xfrm>
            <a:off x="5238750" y="444500"/>
            <a:ext cx="2876550" cy="2200401"/>
            <a:chOff x="0" y="12700"/>
            <a:chExt cx="5753100" cy="4400799"/>
          </a:xfrm>
        </p:grpSpPr>
        <p:sp>
          <p:nvSpPr>
            <p:cNvPr id="6" name="AutoShape 4">
              <a:extLst>
                <a:ext uri="{FF2B5EF4-FFF2-40B4-BE49-F238E27FC236}">
                  <a16:creationId xmlns:a16="http://schemas.microsoft.com/office/drawing/2014/main" id="{2DDF2985-E815-356C-3CD8-1E633A56CF67}"/>
                </a:ext>
              </a:extLst>
            </p:cNvPr>
            <p:cNvSpPr/>
            <p:nvPr/>
          </p:nvSpPr>
          <p:spPr>
            <a:xfrm flipV="1">
              <a:off x="0" y="12700"/>
              <a:ext cx="5753100" cy="0"/>
            </a:xfrm>
            <a:prstGeom prst="line">
              <a:avLst/>
            </a:prstGeom>
            <a:ln w="25400" cap="flat">
              <a:solidFill>
                <a:srgbClr val="ECF0F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5">
              <a:extLst>
                <a:ext uri="{FF2B5EF4-FFF2-40B4-BE49-F238E27FC236}">
                  <a16:creationId xmlns:a16="http://schemas.microsoft.com/office/drawing/2014/main" id="{72F5CB5F-F88E-1C61-4BE5-31618B5CA325}"/>
                </a:ext>
              </a:extLst>
            </p:cNvPr>
            <p:cNvSpPr txBox="1"/>
            <p:nvPr/>
          </p:nvSpPr>
          <p:spPr>
            <a:xfrm>
              <a:off x="0" y="1878449"/>
              <a:ext cx="5753100" cy="2535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60"/>
                </a:lnSpc>
              </a:pPr>
              <a:r>
                <a:rPr lang="en-US" sz="1400" dirty="0">
                  <a:solidFill>
                    <a:schemeClr val="bg1"/>
                  </a:solidFill>
                </a:rPr>
                <a:t>It solves a system of linear equations by converting the equations into an upper triangular matrix and then finding the unknowns using back substitution.</a:t>
              </a:r>
              <a:endParaRPr lang="en-US" sz="1400" dirty="0">
                <a:solidFill>
                  <a:schemeClr val="bg1"/>
                </a:solidFill>
                <a:latin typeface="TT Interphases"/>
                <a:ea typeface="TT Interphases"/>
                <a:cs typeface="TT Interphases"/>
                <a:sym typeface="TT Interphases"/>
              </a:endParaRPr>
            </a:p>
          </p:txBody>
        </p:sp>
        <p:sp>
          <p:nvSpPr>
            <p:cNvPr id="8" name="TextBox 6">
              <a:extLst>
                <a:ext uri="{FF2B5EF4-FFF2-40B4-BE49-F238E27FC236}">
                  <a16:creationId xmlns:a16="http://schemas.microsoft.com/office/drawing/2014/main" id="{C2749AEA-824B-3DEE-BCD8-8CE9EDFD9A3F}"/>
                </a:ext>
              </a:extLst>
            </p:cNvPr>
            <p:cNvSpPr txBox="1"/>
            <p:nvPr/>
          </p:nvSpPr>
          <p:spPr>
            <a:xfrm>
              <a:off x="0" y="614046"/>
              <a:ext cx="5753100" cy="11318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40"/>
                </a:lnSpc>
              </a:pPr>
              <a:r>
                <a:rPr lang="en-US" sz="2133" dirty="0">
                  <a:solidFill>
                    <a:srgbClr val="ECF0F1"/>
                  </a:solidFill>
                  <a:latin typeface="Georgia Pro Condensed Light"/>
                  <a:ea typeface="Georgia Pro Condensed Light"/>
                  <a:cs typeface="Georgia Pro Condensed Light"/>
                  <a:sym typeface="Georgia Pro Condensed Light"/>
                </a:rPr>
                <a:t>Gauss Elimination Method</a:t>
              </a:r>
            </a:p>
          </p:txBody>
        </p:sp>
      </p:grpSp>
      <p:grpSp>
        <p:nvGrpSpPr>
          <p:cNvPr id="9" name="Group 7">
            <a:extLst>
              <a:ext uri="{FF2B5EF4-FFF2-40B4-BE49-F238E27FC236}">
                <a16:creationId xmlns:a16="http://schemas.microsoft.com/office/drawing/2014/main" id="{9A17D6B1-A216-B2EC-7C93-8BBC88579535}"/>
              </a:ext>
            </a:extLst>
          </p:cNvPr>
          <p:cNvGrpSpPr/>
          <p:nvPr/>
        </p:nvGrpSpPr>
        <p:grpSpPr>
          <a:xfrm>
            <a:off x="8870950" y="444500"/>
            <a:ext cx="2876550" cy="2200401"/>
            <a:chOff x="0" y="12700"/>
            <a:chExt cx="5753100" cy="4400799"/>
          </a:xfrm>
        </p:grpSpPr>
        <p:sp>
          <p:nvSpPr>
            <p:cNvPr id="10" name="AutoShape 8">
              <a:extLst>
                <a:ext uri="{FF2B5EF4-FFF2-40B4-BE49-F238E27FC236}">
                  <a16:creationId xmlns:a16="http://schemas.microsoft.com/office/drawing/2014/main" id="{02EFDC8B-5905-E0F1-735B-D94EAAA67EA7}"/>
                </a:ext>
              </a:extLst>
            </p:cNvPr>
            <p:cNvSpPr/>
            <p:nvPr/>
          </p:nvSpPr>
          <p:spPr>
            <a:xfrm>
              <a:off x="0" y="12700"/>
              <a:ext cx="5753100" cy="0"/>
            </a:xfrm>
            <a:prstGeom prst="line">
              <a:avLst/>
            </a:prstGeom>
            <a:ln w="25400" cap="flat">
              <a:solidFill>
                <a:srgbClr val="ECF0F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9">
              <a:extLst>
                <a:ext uri="{FF2B5EF4-FFF2-40B4-BE49-F238E27FC236}">
                  <a16:creationId xmlns:a16="http://schemas.microsoft.com/office/drawing/2014/main" id="{E8CB23E4-8404-AA30-E31A-7B431455849F}"/>
                </a:ext>
              </a:extLst>
            </p:cNvPr>
            <p:cNvSpPr txBox="1"/>
            <p:nvPr/>
          </p:nvSpPr>
          <p:spPr>
            <a:xfrm>
              <a:off x="0" y="1878449"/>
              <a:ext cx="5753100" cy="2535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60"/>
                </a:lnSpc>
              </a:pPr>
              <a:r>
                <a:rPr lang="en-US" sz="1400" dirty="0">
                  <a:solidFill>
                    <a:schemeClr val="bg1"/>
                  </a:solidFill>
                </a:rPr>
                <a:t>It solves a system of linear equations by transforming the matrix into reduced row-echelon form so that the solution is obtained directly without back substitution.</a:t>
              </a:r>
              <a:endParaRPr lang="en-US" sz="1400" dirty="0">
                <a:solidFill>
                  <a:schemeClr val="bg1"/>
                </a:solidFill>
                <a:latin typeface="TT Interphases"/>
                <a:ea typeface="TT Interphases"/>
                <a:cs typeface="TT Interphases"/>
                <a:sym typeface="TT Interphases"/>
              </a:endParaRPr>
            </a:p>
          </p:txBody>
        </p:sp>
        <p:sp>
          <p:nvSpPr>
            <p:cNvPr id="12" name="TextBox 10">
              <a:extLst>
                <a:ext uri="{FF2B5EF4-FFF2-40B4-BE49-F238E27FC236}">
                  <a16:creationId xmlns:a16="http://schemas.microsoft.com/office/drawing/2014/main" id="{08CE4179-95BF-BC3F-101B-B4EB53D12BF9}"/>
                </a:ext>
              </a:extLst>
            </p:cNvPr>
            <p:cNvSpPr txBox="1"/>
            <p:nvPr/>
          </p:nvSpPr>
          <p:spPr>
            <a:xfrm>
              <a:off x="0" y="614046"/>
              <a:ext cx="5753100" cy="11318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40"/>
                </a:lnSpc>
              </a:pPr>
              <a:r>
                <a:rPr lang="en-US" sz="2133" dirty="0">
                  <a:solidFill>
                    <a:srgbClr val="ECF0F1"/>
                  </a:solidFill>
                  <a:latin typeface="Georgia Pro Condensed Light"/>
                  <a:ea typeface="Georgia Pro Condensed Light"/>
                  <a:cs typeface="Georgia Pro Condensed Light"/>
                  <a:sym typeface="Georgia Pro Condensed Light"/>
                </a:rPr>
                <a:t>Gauss Jordan Elimination Method</a:t>
              </a:r>
            </a:p>
          </p:txBody>
        </p:sp>
      </p:grpSp>
      <p:grpSp>
        <p:nvGrpSpPr>
          <p:cNvPr id="13" name="Group 11">
            <a:extLst>
              <a:ext uri="{FF2B5EF4-FFF2-40B4-BE49-F238E27FC236}">
                <a16:creationId xmlns:a16="http://schemas.microsoft.com/office/drawing/2014/main" id="{E0FE7C7F-D272-9074-E253-C53057589216}"/>
              </a:ext>
            </a:extLst>
          </p:cNvPr>
          <p:cNvGrpSpPr/>
          <p:nvPr/>
        </p:nvGrpSpPr>
        <p:grpSpPr>
          <a:xfrm>
            <a:off x="5238750" y="3429000"/>
            <a:ext cx="2876550" cy="1782254"/>
            <a:chOff x="0" y="12700"/>
            <a:chExt cx="5753100" cy="3564506"/>
          </a:xfrm>
        </p:grpSpPr>
        <p:sp>
          <p:nvSpPr>
            <p:cNvPr id="14" name="AutoShape 12">
              <a:extLst>
                <a:ext uri="{FF2B5EF4-FFF2-40B4-BE49-F238E27FC236}">
                  <a16:creationId xmlns:a16="http://schemas.microsoft.com/office/drawing/2014/main" id="{CBFB83FA-8B21-E0EA-3CF7-2BE641BBA63D}"/>
                </a:ext>
              </a:extLst>
            </p:cNvPr>
            <p:cNvSpPr/>
            <p:nvPr/>
          </p:nvSpPr>
          <p:spPr>
            <a:xfrm flipV="1">
              <a:off x="0" y="12700"/>
              <a:ext cx="5753100" cy="0"/>
            </a:xfrm>
            <a:prstGeom prst="line">
              <a:avLst/>
            </a:prstGeom>
            <a:ln w="25400" cap="flat">
              <a:solidFill>
                <a:srgbClr val="ECF0F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3">
              <a:extLst>
                <a:ext uri="{FF2B5EF4-FFF2-40B4-BE49-F238E27FC236}">
                  <a16:creationId xmlns:a16="http://schemas.microsoft.com/office/drawing/2014/main" id="{5ABE9100-DC81-4EBC-A0AA-EA66F9E18454}"/>
                </a:ext>
              </a:extLst>
            </p:cNvPr>
            <p:cNvSpPr txBox="1"/>
            <p:nvPr/>
          </p:nvSpPr>
          <p:spPr>
            <a:xfrm>
              <a:off x="0" y="1555115"/>
              <a:ext cx="5753100" cy="20220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60"/>
                </a:lnSpc>
              </a:pPr>
              <a:r>
                <a:rPr lang="en-US" sz="1400" dirty="0">
                  <a:solidFill>
                    <a:schemeClr val="bg1"/>
                  </a:solidFill>
                </a:rPr>
                <a:t>It solves a system of linear equations by finding the inverse of the coefficient matrix and multiplying it with the constant matrix.</a:t>
              </a:r>
              <a:endParaRPr lang="en-US" sz="1400" dirty="0">
                <a:solidFill>
                  <a:schemeClr val="bg1"/>
                </a:solidFill>
                <a:latin typeface="TT Interphases"/>
                <a:ea typeface="TT Interphases"/>
                <a:cs typeface="TT Interphases"/>
                <a:sym typeface="TT Interphases"/>
              </a:endParaRPr>
            </a:p>
          </p:txBody>
        </p:sp>
        <p:sp>
          <p:nvSpPr>
            <p:cNvPr id="16" name="TextBox 14">
              <a:extLst>
                <a:ext uri="{FF2B5EF4-FFF2-40B4-BE49-F238E27FC236}">
                  <a16:creationId xmlns:a16="http://schemas.microsoft.com/office/drawing/2014/main" id="{9537738C-363A-A68F-3FB6-1A61A8B32028}"/>
                </a:ext>
              </a:extLst>
            </p:cNvPr>
            <p:cNvSpPr txBox="1"/>
            <p:nvPr/>
          </p:nvSpPr>
          <p:spPr>
            <a:xfrm>
              <a:off x="0" y="614046"/>
              <a:ext cx="575310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40"/>
                </a:lnSpc>
              </a:pPr>
              <a:r>
                <a:rPr lang="en-US" sz="2133" dirty="0">
                  <a:solidFill>
                    <a:srgbClr val="ECF0F1"/>
                  </a:solidFill>
                  <a:latin typeface="Georgia Pro Condensed Light"/>
                  <a:ea typeface="Georgia Pro Condensed Light"/>
                  <a:cs typeface="Georgia Pro Condensed Light"/>
                  <a:sym typeface="Georgia Pro Condensed Light"/>
                </a:rPr>
                <a:t>Matrix Inversion Method</a:t>
              </a:r>
            </a:p>
          </p:txBody>
        </p:sp>
      </p:grpSp>
      <p:sp>
        <p:nvSpPr>
          <p:cNvPr id="18" name="Slide Number Placeholder 18">
            <a:extLst>
              <a:ext uri="{FF2B5EF4-FFF2-40B4-BE49-F238E27FC236}">
                <a16:creationId xmlns:a16="http://schemas.microsoft.com/office/drawing/2014/main" id="{B72F2896-0ABF-AF32-D827-F256D2CA65E4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6590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21</a:t>
            </a:fld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391512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BC74E036-2D87-CFB8-1D80-9C69C1E47CD3}"/>
              </a:ext>
            </a:extLst>
          </p:cNvPr>
          <p:cNvSpPr txBox="1"/>
          <p:nvPr/>
        </p:nvSpPr>
        <p:spPr>
          <a:xfrm>
            <a:off x="444500" y="482600"/>
            <a:ext cx="4038600" cy="20390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5280"/>
              </a:lnSpc>
              <a:spcBef>
                <a:spcPct val="0"/>
              </a:spcBef>
            </a:pPr>
            <a:r>
              <a:rPr lang="en-US" sz="4800" dirty="0">
                <a:solidFill>
                  <a:srgbClr val="ECF0F1"/>
                </a:solidFill>
                <a:latin typeface="Georgia Pro Condensed Light"/>
                <a:ea typeface="Georgia Pro Condensed Light"/>
                <a:cs typeface="Georgia Pro Condensed Light"/>
                <a:sym typeface="Georgia Pro Condensed Light"/>
              </a:rPr>
              <a:t>Numerical Methods that I Implemented</a:t>
            </a:r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0A7FD635-34A5-B046-12AC-4FDC3BF0ACAE}"/>
              </a:ext>
            </a:extLst>
          </p:cNvPr>
          <p:cNvGrpSpPr/>
          <p:nvPr/>
        </p:nvGrpSpPr>
        <p:grpSpPr>
          <a:xfrm>
            <a:off x="5238750" y="444500"/>
            <a:ext cx="2876550" cy="1698494"/>
            <a:chOff x="0" y="12700"/>
            <a:chExt cx="5753100" cy="3396986"/>
          </a:xfrm>
        </p:grpSpPr>
        <p:sp>
          <p:nvSpPr>
            <p:cNvPr id="4" name="AutoShape 4">
              <a:extLst>
                <a:ext uri="{FF2B5EF4-FFF2-40B4-BE49-F238E27FC236}">
                  <a16:creationId xmlns:a16="http://schemas.microsoft.com/office/drawing/2014/main" id="{A6F9D9D4-FD62-FBFD-64CA-F45E5A669E47}"/>
                </a:ext>
              </a:extLst>
            </p:cNvPr>
            <p:cNvSpPr/>
            <p:nvPr/>
          </p:nvSpPr>
          <p:spPr>
            <a:xfrm flipV="1">
              <a:off x="0" y="12700"/>
              <a:ext cx="5753100" cy="0"/>
            </a:xfrm>
            <a:prstGeom prst="line">
              <a:avLst/>
            </a:prstGeom>
            <a:ln w="25400" cap="flat">
              <a:solidFill>
                <a:srgbClr val="ECF0F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10D317F8-E643-5659-12AE-9659A171C315}"/>
                </a:ext>
              </a:extLst>
            </p:cNvPr>
            <p:cNvSpPr txBox="1"/>
            <p:nvPr/>
          </p:nvSpPr>
          <p:spPr>
            <a:xfrm>
              <a:off x="0" y="1900555"/>
              <a:ext cx="5753100" cy="150913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60"/>
                </a:lnSpc>
              </a:pPr>
              <a:r>
                <a:rPr lang="en-US" sz="1400" dirty="0">
                  <a:solidFill>
                    <a:schemeClr val="bg1"/>
                  </a:solidFill>
                </a:rPr>
                <a:t>It determines the best-fit straight line for the given data using the least square method.</a:t>
              </a:r>
              <a:endParaRPr lang="en-US" sz="1400" dirty="0">
                <a:solidFill>
                  <a:schemeClr val="bg1"/>
                </a:solidFill>
                <a:latin typeface="TT Interphases"/>
                <a:ea typeface="TT Interphases"/>
                <a:cs typeface="TT Interphases"/>
                <a:sym typeface="TT Interphase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40F6CA5A-FE17-5987-6163-D18C3E2AD885}"/>
                </a:ext>
              </a:extLst>
            </p:cNvPr>
            <p:cNvSpPr txBox="1"/>
            <p:nvPr/>
          </p:nvSpPr>
          <p:spPr>
            <a:xfrm>
              <a:off x="0" y="614046"/>
              <a:ext cx="5753100" cy="5675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40"/>
                </a:lnSpc>
              </a:pPr>
              <a:r>
                <a:rPr lang="en-US" sz="2133" dirty="0">
                  <a:solidFill>
                    <a:srgbClr val="ECF0F1"/>
                  </a:solidFill>
                  <a:latin typeface="Georgia Pro Condensed Light"/>
                  <a:ea typeface="Georgia Pro Condensed Light"/>
                  <a:cs typeface="Georgia Pro Condensed Light"/>
                  <a:sym typeface="Georgia Pro Condensed Light"/>
                </a:rPr>
                <a:t>Linear Equation</a:t>
              </a:r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33F1F58E-B57D-11BC-C0F9-8432F6390586}"/>
              </a:ext>
            </a:extLst>
          </p:cNvPr>
          <p:cNvGrpSpPr/>
          <p:nvPr/>
        </p:nvGrpSpPr>
        <p:grpSpPr>
          <a:xfrm>
            <a:off x="8870950" y="444500"/>
            <a:ext cx="2876550" cy="1954974"/>
            <a:chOff x="0" y="12700"/>
            <a:chExt cx="5753100" cy="3909946"/>
          </a:xfrm>
        </p:grpSpPr>
        <p:sp>
          <p:nvSpPr>
            <p:cNvPr id="8" name="AutoShape 8">
              <a:extLst>
                <a:ext uri="{FF2B5EF4-FFF2-40B4-BE49-F238E27FC236}">
                  <a16:creationId xmlns:a16="http://schemas.microsoft.com/office/drawing/2014/main" id="{7F86BBF2-845F-2793-C0AD-448ED8EC5EE0}"/>
                </a:ext>
              </a:extLst>
            </p:cNvPr>
            <p:cNvSpPr/>
            <p:nvPr/>
          </p:nvSpPr>
          <p:spPr>
            <a:xfrm>
              <a:off x="0" y="12700"/>
              <a:ext cx="5753100" cy="0"/>
            </a:xfrm>
            <a:prstGeom prst="line">
              <a:avLst/>
            </a:prstGeom>
            <a:ln w="25400" cap="flat">
              <a:solidFill>
                <a:srgbClr val="ECF0F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B081CC2A-E4A6-54BE-315E-767B4FC2EB72}"/>
                </a:ext>
              </a:extLst>
            </p:cNvPr>
            <p:cNvSpPr txBox="1"/>
            <p:nvPr/>
          </p:nvSpPr>
          <p:spPr>
            <a:xfrm>
              <a:off x="0" y="1900555"/>
              <a:ext cx="5753100" cy="20220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60"/>
                </a:lnSpc>
              </a:pPr>
              <a:r>
                <a:rPr lang="en-US" sz="1400" dirty="0">
                  <a:solidFill>
                    <a:schemeClr val="bg1"/>
                  </a:solidFill>
                </a:rPr>
                <a:t>It fits exponential, logarithmic, or power curves by converting them into a linear form and applying the least square method.</a:t>
              </a:r>
              <a:endParaRPr lang="en-US" sz="1400" dirty="0">
                <a:solidFill>
                  <a:schemeClr val="bg1"/>
                </a:solidFill>
                <a:latin typeface="TT Interphases"/>
                <a:ea typeface="TT Interphases"/>
                <a:cs typeface="TT Interphases"/>
                <a:sym typeface="TT Interphase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06582CFF-FE67-9728-FFED-3181C036A936}"/>
                </a:ext>
              </a:extLst>
            </p:cNvPr>
            <p:cNvSpPr txBox="1"/>
            <p:nvPr/>
          </p:nvSpPr>
          <p:spPr>
            <a:xfrm>
              <a:off x="0" y="614046"/>
              <a:ext cx="5753100" cy="5675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40"/>
                </a:lnSpc>
              </a:pPr>
              <a:r>
                <a:rPr lang="en-US" sz="2133" dirty="0">
                  <a:solidFill>
                    <a:srgbClr val="ECF0F1"/>
                  </a:solidFill>
                  <a:latin typeface="Georgia Pro Condensed Light"/>
                  <a:ea typeface="Georgia Pro Condensed Light"/>
                  <a:cs typeface="Georgia Pro Condensed Light"/>
                  <a:sym typeface="Georgia Pro Condensed Light"/>
                </a:rPr>
                <a:t>Transcendental Equation</a:t>
              </a: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7B3B27D-17DF-BD49-0494-C9C8EC22A9D9}"/>
              </a:ext>
            </a:extLst>
          </p:cNvPr>
          <p:cNvGrpSpPr/>
          <p:nvPr/>
        </p:nvGrpSpPr>
        <p:grpSpPr>
          <a:xfrm>
            <a:off x="5238750" y="3429000"/>
            <a:ext cx="2876550" cy="1722875"/>
            <a:chOff x="0" y="12700"/>
            <a:chExt cx="5753100" cy="3445748"/>
          </a:xfrm>
        </p:grpSpPr>
        <p:sp>
          <p:nvSpPr>
            <p:cNvPr id="12" name="AutoShape 12">
              <a:extLst>
                <a:ext uri="{FF2B5EF4-FFF2-40B4-BE49-F238E27FC236}">
                  <a16:creationId xmlns:a16="http://schemas.microsoft.com/office/drawing/2014/main" id="{77BD2D6C-33EE-217A-79B4-641EC4D2D14E}"/>
                </a:ext>
              </a:extLst>
            </p:cNvPr>
            <p:cNvSpPr/>
            <p:nvPr/>
          </p:nvSpPr>
          <p:spPr>
            <a:xfrm flipV="1">
              <a:off x="0" y="12700"/>
              <a:ext cx="5753100" cy="0"/>
            </a:xfrm>
            <a:prstGeom prst="line">
              <a:avLst/>
            </a:prstGeom>
            <a:ln w="25400" cap="flat">
              <a:solidFill>
                <a:srgbClr val="ECF0F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544D51E-AF81-8C6D-8EA0-6C5D22231AE7}"/>
                </a:ext>
              </a:extLst>
            </p:cNvPr>
            <p:cNvSpPr txBox="1"/>
            <p:nvPr/>
          </p:nvSpPr>
          <p:spPr>
            <a:xfrm>
              <a:off x="0" y="1949317"/>
              <a:ext cx="5753100" cy="150913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1960"/>
                </a:lnSpc>
              </a:pPr>
              <a:r>
                <a:rPr lang="en-US" sz="1400" dirty="0">
                  <a:solidFill>
                    <a:schemeClr val="bg1"/>
                  </a:solidFill>
                </a:rPr>
                <a:t>It fits a polynomial curve for the given data by using the least square method.</a:t>
              </a:r>
              <a:endParaRPr lang="en-US" sz="1400" dirty="0">
                <a:solidFill>
                  <a:schemeClr val="bg1"/>
                </a:solidFill>
                <a:latin typeface="TT Interphases"/>
                <a:ea typeface="TT Interphases"/>
                <a:cs typeface="TT Interphases"/>
                <a:sym typeface="TT Interphases"/>
              </a:endParaRPr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B4995F6F-7C44-CB8F-72A3-FA61E836CE7C}"/>
                </a:ext>
              </a:extLst>
            </p:cNvPr>
            <p:cNvSpPr txBox="1"/>
            <p:nvPr/>
          </p:nvSpPr>
          <p:spPr>
            <a:xfrm>
              <a:off x="0" y="584966"/>
              <a:ext cx="5753100" cy="5675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defTabSz="609630">
                <a:lnSpc>
                  <a:spcPts val="2240"/>
                </a:lnSpc>
              </a:pPr>
              <a:r>
                <a:rPr lang="en-US" sz="2133" dirty="0">
                  <a:solidFill>
                    <a:srgbClr val="ECF0F1"/>
                  </a:solidFill>
                  <a:latin typeface="Georgia Pro Condensed Light"/>
                  <a:ea typeface="Georgia Pro Condensed Light"/>
                  <a:cs typeface="Georgia Pro Condensed Light"/>
                  <a:sym typeface="Georgia Pro Condensed Light"/>
                </a:rPr>
                <a:t>Polynomial Equation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F29486C-F512-9A74-B7D1-27135B5644FE}"/>
              </a:ext>
            </a:extLst>
          </p:cNvPr>
          <p:cNvSpPr txBox="1"/>
          <p:nvPr/>
        </p:nvSpPr>
        <p:spPr>
          <a:xfrm>
            <a:off x="444499" y="3176524"/>
            <a:ext cx="38319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Curve Fitting: Regression</a:t>
            </a:r>
          </a:p>
        </p:txBody>
      </p:sp>
      <p:sp>
        <p:nvSpPr>
          <p:cNvPr id="18" name="Slide Number Placeholder 18">
            <a:extLst>
              <a:ext uri="{FF2B5EF4-FFF2-40B4-BE49-F238E27FC236}">
                <a16:creationId xmlns:a16="http://schemas.microsoft.com/office/drawing/2014/main" id="{6C7AA464-7AA2-5CBB-3558-CE139AEBBDFF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6590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22</a:t>
            </a:fld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65061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540335" y="352372"/>
            <a:ext cx="7327900" cy="7329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0"/>
              </a:lnSpc>
            </a:pPr>
            <a:r>
              <a:rPr lang="en-US" sz="3200" dirty="0">
                <a:solidFill>
                  <a:srgbClr val="2A4D69"/>
                </a:solidFill>
                <a:latin typeface="Raleway"/>
                <a:ea typeface="Raleway"/>
                <a:cs typeface="Raleway"/>
                <a:sym typeface="Raleway"/>
              </a:rPr>
              <a:t>Table of Contents &amp; Hyperlinking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444500" y="1793267"/>
            <a:ext cx="3632200" cy="984607"/>
            <a:chOff x="0" y="19051"/>
            <a:chExt cx="7264400" cy="1969212"/>
          </a:xfrm>
        </p:grpSpPr>
        <p:sp>
          <p:nvSpPr>
            <p:cNvPr id="4" name="TextBox 4"/>
            <p:cNvSpPr txBox="1"/>
            <p:nvPr/>
          </p:nvSpPr>
          <p:spPr>
            <a:xfrm>
              <a:off x="0" y="19051"/>
              <a:ext cx="726440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en-US" sz="2000" b="1" dirty="0">
                  <a:solidFill>
                    <a:srgbClr val="4B86B4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Navigation Menu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955674"/>
              <a:ext cx="7264400" cy="10325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53"/>
                </a:lnSpc>
              </a:pPr>
              <a:r>
                <a:rPr lang="en-US" sz="1467" dirty="0">
                  <a:solidFill>
                    <a:srgbClr val="2A4D69"/>
                  </a:solidFill>
                  <a:latin typeface="Raleway"/>
                  <a:ea typeface="Raleway"/>
                  <a:cs typeface="Raleway"/>
                  <a:sym typeface="Raleway"/>
                </a:rPr>
                <a:t>The Table of Contents serves as a navigation menu.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096000" y="1793267"/>
            <a:ext cx="3632200" cy="991969"/>
            <a:chOff x="0" y="19051"/>
            <a:chExt cx="7264400" cy="1983938"/>
          </a:xfrm>
        </p:grpSpPr>
        <p:sp>
          <p:nvSpPr>
            <p:cNvPr id="7" name="TextBox 7"/>
            <p:cNvSpPr txBox="1"/>
            <p:nvPr/>
          </p:nvSpPr>
          <p:spPr>
            <a:xfrm>
              <a:off x="0" y="19051"/>
              <a:ext cx="726440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en-US" sz="2000" b="1" dirty="0">
                  <a:solidFill>
                    <a:srgbClr val="4B86B4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Clickable Hyperlinks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970399"/>
              <a:ext cx="7264400" cy="10325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53"/>
                </a:lnSpc>
              </a:pPr>
              <a:r>
                <a:rPr lang="en-US" sz="1467" dirty="0">
                  <a:solidFill>
                    <a:srgbClr val="2A4D69"/>
                  </a:solidFill>
                  <a:latin typeface="Raleway"/>
                  <a:ea typeface="Raleway"/>
                  <a:cs typeface="Raleway"/>
                  <a:sym typeface="Raleway"/>
                </a:rPr>
                <a:t>Each item is a clickable hyperlink referencing sections.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44500" y="4640016"/>
            <a:ext cx="3632200" cy="984607"/>
            <a:chOff x="0" y="19051"/>
            <a:chExt cx="7264400" cy="1969212"/>
          </a:xfrm>
        </p:grpSpPr>
        <p:sp>
          <p:nvSpPr>
            <p:cNvPr id="13" name="TextBox 13"/>
            <p:cNvSpPr txBox="1"/>
            <p:nvPr/>
          </p:nvSpPr>
          <p:spPr>
            <a:xfrm>
              <a:off x="0" y="19051"/>
              <a:ext cx="726440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en-US" sz="2000" b="1">
                  <a:solidFill>
                    <a:srgbClr val="4B86B4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Direct Navigation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955674"/>
              <a:ext cx="7264400" cy="10325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53"/>
                </a:lnSpc>
              </a:pPr>
              <a:r>
                <a:rPr lang="en-US" sz="1467">
                  <a:solidFill>
                    <a:srgbClr val="2A4D69"/>
                  </a:solidFill>
                  <a:latin typeface="Raleway"/>
                  <a:ea typeface="Raleway"/>
                  <a:cs typeface="Raleway"/>
                  <a:sym typeface="Raleway"/>
                </a:rPr>
                <a:t>Clicking "Gauss Elimination Method" jumps to its section.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3DC76D4-95EA-B50C-0821-3F8F7DB87F82}"/>
              </a:ext>
            </a:extLst>
          </p:cNvPr>
          <p:cNvSpPr txBox="1"/>
          <p:nvPr/>
        </p:nvSpPr>
        <p:spPr>
          <a:xfrm>
            <a:off x="223520" y="224821"/>
            <a:ext cx="770636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7200"/>
              </a:lnSpc>
            </a:pPr>
            <a:r>
              <a:rPr lang="en-US" sz="6400" dirty="0">
                <a:solidFill>
                  <a:srgbClr val="2A4D69"/>
                </a:solidFill>
                <a:latin typeface="Raleway"/>
                <a:ea typeface="Raleway"/>
                <a:cs typeface="Raleway"/>
                <a:sym typeface="Raleway"/>
              </a:rPr>
              <a:t>README.md:</a:t>
            </a:r>
          </a:p>
        </p:txBody>
      </p:sp>
      <p:pic>
        <p:nvPicPr>
          <p:cNvPr id="10" name="Picture 9" descr="A black and yellow text with white text&#10;&#10;AI-generated content may be incorrect.">
            <a:extLst>
              <a:ext uri="{FF2B5EF4-FFF2-40B4-BE49-F238E27FC236}">
                <a16:creationId xmlns:a16="http://schemas.microsoft.com/office/drawing/2014/main" id="{C92C3AFC-E32C-BA1F-B792-7F95EBEE1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5182" y="1723203"/>
            <a:ext cx="2296521" cy="1705797"/>
          </a:xfrm>
          <a:prstGeom prst="rect">
            <a:avLst/>
          </a:prstGeom>
        </p:spPr>
      </p:pic>
      <p:pic>
        <p:nvPicPr>
          <p:cNvPr id="18" name="Picture 17" descr="A black and yellow text with white text&#10;&#10;AI-generated content may be incorrect.">
            <a:extLst>
              <a:ext uri="{FF2B5EF4-FFF2-40B4-BE49-F238E27FC236}">
                <a16:creationId xmlns:a16="http://schemas.microsoft.com/office/drawing/2014/main" id="{68FFDD5D-84D7-8B4F-F40B-55C6DBCCA3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3134" y="1723203"/>
            <a:ext cx="2781688" cy="1800476"/>
          </a:xfrm>
          <a:prstGeom prst="rect">
            <a:avLst/>
          </a:prstGeom>
        </p:spPr>
      </p:pic>
      <p:pic>
        <p:nvPicPr>
          <p:cNvPr id="21" name="Picture 20" descr="A black and white text on a black background&#10;&#10;AI-generated content may be incorrect.">
            <a:extLst>
              <a:ext uri="{FF2B5EF4-FFF2-40B4-BE49-F238E27FC236}">
                <a16:creationId xmlns:a16="http://schemas.microsoft.com/office/drawing/2014/main" id="{73705968-F9FF-4914-F4E7-3757DD6314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2634" y="4313816"/>
            <a:ext cx="2616586" cy="17057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FADD87D-6077-B4C2-712B-B59586F76AB6}"/>
              </a:ext>
            </a:extLst>
          </p:cNvPr>
          <p:cNvSpPr txBox="1"/>
          <p:nvPr/>
        </p:nvSpPr>
        <p:spPr>
          <a:xfrm flipH="1">
            <a:off x="4264890" y="3542387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3.5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42C590-C77D-C4A0-7D0F-02D47FDF9EBD}"/>
              </a:ext>
            </a:extLst>
          </p:cNvPr>
          <p:cNvSpPr txBox="1"/>
          <p:nvPr/>
        </p:nvSpPr>
        <p:spPr>
          <a:xfrm flipH="1">
            <a:off x="4532375" y="6133000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3.6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1E9AE1-E372-2B1F-D1EE-73D2EB9DAF14}"/>
              </a:ext>
            </a:extLst>
          </p:cNvPr>
          <p:cNvSpPr txBox="1"/>
          <p:nvPr/>
        </p:nvSpPr>
        <p:spPr>
          <a:xfrm flipH="1">
            <a:off x="10182260" y="3727053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3.7</a:t>
            </a:r>
          </a:p>
        </p:txBody>
      </p:sp>
      <p:sp>
        <p:nvSpPr>
          <p:cNvPr id="22" name="Slide Number Placeholder 18">
            <a:extLst>
              <a:ext uri="{FF2B5EF4-FFF2-40B4-BE49-F238E27FC236}">
                <a16:creationId xmlns:a16="http://schemas.microsoft.com/office/drawing/2014/main" id="{6F532C54-D363-B4AF-9F97-EAE3F1246B31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6590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23</a:t>
            </a:fld>
            <a:endParaRPr lang="en-US" sz="3200" b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2"/>
          <p:cNvSpPr txBox="1"/>
          <p:nvPr/>
        </p:nvSpPr>
        <p:spPr>
          <a:xfrm>
            <a:off x="640080" y="881744"/>
            <a:ext cx="6894576" cy="9117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dirty="0">
                <a:solidFill>
                  <a:schemeClr val="accent1"/>
                </a:solidFill>
                <a:latin typeface="+mj-lt"/>
                <a:ea typeface="+mj-ea"/>
                <a:cs typeface="+mj-cs"/>
                <a:sym typeface="Raleway"/>
              </a:rPr>
              <a:t>Hyperlinking</a:t>
            </a:r>
          </a:p>
        </p:txBody>
      </p:sp>
      <p:sp>
        <p:nvSpPr>
          <p:cNvPr id="33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13CD6A-8A67-406D-1688-476B4E10DEC4}"/>
              </a:ext>
            </a:extLst>
          </p:cNvPr>
          <p:cNvSpPr txBox="1"/>
          <p:nvPr/>
        </p:nvSpPr>
        <p:spPr>
          <a:xfrm>
            <a:off x="640080" y="2706624"/>
            <a:ext cx="6894576" cy="278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5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b="1" dirty="0"/>
              <a:t>Anchor Generated by Markdown:</a:t>
            </a:r>
            <a:r>
              <a:rPr lang="en-US" sz="1500" dirty="0"/>
              <a:t> Markdown automatically converts any section heading (e.g., ### Gauss Elimination Method) to lowercase, replaces spaces with hyphens, and removes special characters to create the anchor (e.g., #gauss-elimination-method).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b="1" dirty="0"/>
              <a:t>Table of Content Link:</a:t>
            </a:r>
            <a:r>
              <a:rPr lang="en-US" sz="1500" dirty="0"/>
              <a:t> [Gauss Elimination Method](#gauss-elimination-method) is written in the table of contents.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500" b="1" dirty="0"/>
              <a:t>Clicking the Link:</a:t>
            </a:r>
            <a:r>
              <a:rPr lang="en-US" sz="1500" dirty="0"/>
              <a:t> When clicked, it scrolls the page directly to that heading.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500" dirty="0"/>
          </a:p>
        </p:txBody>
      </p:sp>
      <p:pic>
        <p:nvPicPr>
          <p:cNvPr id="26" name="Picture 2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E2E58C35-4341-C7A4-DCB8-98C0B61584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3693" y="3753435"/>
            <a:ext cx="2908227" cy="1777756"/>
          </a:xfrm>
          <a:prstGeom prst="rect">
            <a:avLst/>
          </a:prstGeom>
        </p:spPr>
      </p:pic>
      <p:pic>
        <p:nvPicPr>
          <p:cNvPr id="18" name="Picture 17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5394411B-ABDC-E75F-B92C-FA8968EAA3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992" y="1496343"/>
            <a:ext cx="3995928" cy="16496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FF63AA-9FCA-492B-8F52-DF211A3F3035}"/>
              </a:ext>
            </a:extLst>
          </p:cNvPr>
          <p:cNvSpPr txBox="1"/>
          <p:nvPr/>
        </p:nvSpPr>
        <p:spPr>
          <a:xfrm flipH="1">
            <a:off x="9095404" y="3145970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3.8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400422-69F5-7BC1-9800-112C65AC2E41}"/>
              </a:ext>
            </a:extLst>
          </p:cNvPr>
          <p:cNvSpPr txBox="1"/>
          <p:nvPr/>
        </p:nvSpPr>
        <p:spPr>
          <a:xfrm flipH="1">
            <a:off x="9639254" y="5769324"/>
            <a:ext cx="91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Fig 3.9</a:t>
            </a:r>
          </a:p>
        </p:txBody>
      </p:sp>
      <p:sp>
        <p:nvSpPr>
          <p:cNvPr id="8" name="Slide Number Placeholder 18">
            <a:extLst>
              <a:ext uri="{FF2B5EF4-FFF2-40B4-BE49-F238E27FC236}">
                <a16:creationId xmlns:a16="http://schemas.microsoft.com/office/drawing/2014/main" id="{B131D26F-436D-96AE-DA87-2490003D9414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6590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24</a:t>
            </a:fld>
            <a:endParaRPr lang="en-US" sz="3200" b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44500" y="495300"/>
            <a:ext cx="7467600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600"/>
              </a:lnSpc>
            </a:pPr>
            <a:r>
              <a:rPr lang="en-US" sz="6000" dirty="0">
                <a:solidFill>
                  <a:srgbClr val="2A4D69"/>
                </a:solidFill>
                <a:latin typeface="Raleway"/>
                <a:ea typeface="Raleway"/>
                <a:cs typeface="Raleway"/>
                <a:sym typeface="Raleway"/>
              </a:rPr>
              <a:t>Section Structure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444500" y="2127533"/>
            <a:ext cx="3632200" cy="984607"/>
            <a:chOff x="0" y="19051"/>
            <a:chExt cx="7264400" cy="1969212"/>
          </a:xfrm>
        </p:grpSpPr>
        <p:sp>
          <p:nvSpPr>
            <p:cNvPr id="4" name="TextBox 4"/>
            <p:cNvSpPr txBox="1"/>
            <p:nvPr/>
          </p:nvSpPr>
          <p:spPr>
            <a:xfrm>
              <a:off x="0" y="19051"/>
              <a:ext cx="726440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en-US" sz="2000" b="1">
                  <a:solidFill>
                    <a:srgbClr val="4B86B4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Theory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955674"/>
              <a:ext cx="7264400" cy="10325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53"/>
                </a:lnSpc>
              </a:pPr>
              <a:r>
                <a:rPr lang="en-US" sz="1467">
                  <a:solidFill>
                    <a:srgbClr val="2A4D69"/>
                  </a:solidFill>
                  <a:latin typeface="Raleway"/>
                  <a:ea typeface="Raleway"/>
                  <a:cs typeface="Raleway"/>
                  <a:sym typeface="Raleway"/>
                </a:rPr>
                <a:t>Explains the working principle of each numerical method clearly.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096000" y="2133225"/>
            <a:ext cx="3632200" cy="991969"/>
            <a:chOff x="0" y="19051"/>
            <a:chExt cx="7264400" cy="1983938"/>
          </a:xfrm>
        </p:grpSpPr>
        <p:sp>
          <p:nvSpPr>
            <p:cNvPr id="7" name="TextBox 7"/>
            <p:cNvSpPr txBox="1"/>
            <p:nvPr/>
          </p:nvSpPr>
          <p:spPr>
            <a:xfrm>
              <a:off x="0" y="19051"/>
              <a:ext cx="726440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en-US" sz="2000" b="1">
                  <a:solidFill>
                    <a:srgbClr val="4B86B4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Code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970399"/>
              <a:ext cx="7264400" cy="10325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53"/>
                </a:lnSpc>
              </a:pPr>
              <a:r>
                <a:rPr lang="en-US" sz="1467" dirty="0">
                  <a:solidFill>
                    <a:srgbClr val="2A4D69"/>
                  </a:solidFill>
                  <a:latin typeface="Raleway"/>
                  <a:ea typeface="Raleway"/>
                  <a:cs typeface="Raleway"/>
                  <a:sym typeface="Raleway"/>
                </a:rPr>
                <a:t>Shows the program implementation of the method.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34340" y="3591808"/>
            <a:ext cx="3632200" cy="715304"/>
            <a:chOff x="0" y="19050"/>
            <a:chExt cx="7264400" cy="1430608"/>
          </a:xfrm>
        </p:grpSpPr>
        <p:sp>
          <p:nvSpPr>
            <p:cNvPr id="13" name="TextBox 13"/>
            <p:cNvSpPr txBox="1"/>
            <p:nvPr/>
          </p:nvSpPr>
          <p:spPr>
            <a:xfrm>
              <a:off x="0" y="19050"/>
              <a:ext cx="726440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en-US" sz="2000" b="1" dirty="0">
                  <a:solidFill>
                    <a:srgbClr val="4B86B4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Input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955676"/>
              <a:ext cx="7264400" cy="4939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53"/>
                </a:lnSpc>
              </a:pPr>
              <a:r>
                <a:rPr lang="en-US" sz="1467" dirty="0">
                  <a:solidFill>
                    <a:srgbClr val="2A4D69"/>
                  </a:solidFill>
                  <a:latin typeface="Raleway"/>
                  <a:ea typeface="Raleway"/>
                  <a:cs typeface="Raleway"/>
                  <a:sym typeface="Raleway"/>
                </a:rPr>
                <a:t>Shows the input given by the user.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085840" y="3511240"/>
            <a:ext cx="3632200" cy="991969"/>
            <a:chOff x="0" y="19051"/>
            <a:chExt cx="7264400" cy="1983938"/>
          </a:xfrm>
        </p:grpSpPr>
        <p:sp>
          <p:nvSpPr>
            <p:cNvPr id="16" name="TextBox 16"/>
            <p:cNvSpPr txBox="1"/>
            <p:nvPr/>
          </p:nvSpPr>
          <p:spPr>
            <a:xfrm>
              <a:off x="0" y="19051"/>
              <a:ext cx="726440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en-US" sz="2000" b="1" dirty="0">
                  <a:solidFill>
                    <a:srgbClr val="4B86B4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Output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970399"/>
              <a:ext cx="7264400" cy="10325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53"/>
                </a:lnSpc>
              </a:pPr>
              <a:r>
                <a:rPr lang="en-US" sz="1467" dirty="0">
                  <a:solidFill>
                    <a:srgbClr val="2A4D69"/>
                  </a:solidFill>
                  <a:latin typeface="Raleway"/>
                  <a:ea typeface="Raleway"/>
                  <a:cs typeface="Raleway"/>
                  <a:sym typeface="Raleway"/>
                </a:rPr>
                <a:t>Displays results produced by the program for verification.</a:t>
              </a:r>
            </a:p>
          </p:txBody>
        </p:sp>
      </p:grpSp>
      <p:grpSp>
        <p:nvGrpSpPr>
          <p:cNvPr id="19" name="Group 12">
            <a:extLst>
              <a:ext uri="{FF2B5EF4-FFF2-40B4-BE49-F238E27FC236}">
                <a16:creationId xmlns:a16="http://schemas.microsoft.com/office/drawing/2014/main" id="{8B90B32B-B0E5-A25D-219C-627333EF5300}"/>
              </a:ext>
            </a:extLst>
          </p:cNvPr>
          <p:cNvGrpSpPr/>
          <p:nvPr/>
        </p:nvGrpSpPr>
        <p:grpSpPr>
          <a:xfrm>
            <a:off x="444500" y="4870204"/>
            <a:ext cx="3632200" cy="984607"/>
            <a:chOff x="0" y="19051"/>
            <a:chExt cx="7264400" cy="1969212"/>
          </a:xfrm>
        </p:grpSpPr>
        <p:sp>
          <p:nvSpPr>
            <p:cNvPr id="20" name="TextBox 13">
              <a:extLst>
                <a:ext uri="{FF2B5EF4-FFF2-40B4-BE49-F238E27FC236}">
                  <a16:creationId xmlns:a16="http://schemas.microsoft.com/office/drawing/2014/main" id="{FF29942D-2AA6-A17D-4657-EAE1D07EC90F}"/>
                </a:ext>
              </a:extLst>
            </p:cNvPr>
            <p:cNvSpPr txBox="1"/>
            <p:nvPr/>
          </p:nvSpPr>
          <p:spPr>
            <a:xfrm>
              <a:off x="0" y="19051"/>
              <a:ext cx="726440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en-US" sz="2000" b="1" dirty="0">
                  <a:solidFill>
                    <a:srgbClr val="4B86B4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Input Format</a:t>
              </a:r>
            </a:p>
          </p:txBody>
        </p:sp>
        <p:sp>
          <p:nvSpPr>
            <p:cNvPr id="21" name="TextBox 14">
              <a:extLst>
                <a:ext uri="{FF2B5EF4-FFF2-40B4-BE49-F238E27FC236}">
                  <a16:creationId xmlns:a16="http://schemas.microsoft.com/office/drawing/2014/main" id="{AC4B5CD3-04C4-6C5F-D550-05E94C0D1E6F}"/>
                </a:ext>
              </a:extLst>
            </p:cNvPr>
            <p:cNvSpPr txBox="1"/>
            <p:nvPr/>
          </p:nvSpPr>
          <p:spPr>
            <a:xfrm>
              <a:off x="0" y="955674"/>
              <a:ext cx="7264400" cy="10325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53"/>
                </a:lnSpc>
              </a:pPr>
              <a:r>
                <a:rPr lang="en-US" sz="1467" dirty="0">
                  <a:solidFill>
                    <a:srgbClr val="2A4D69"/>
                  </a:solidFill>
                  <a:latin typeface="Raleway"/>
                  <a:ea typeface="Raleway"/>
                  <a:cs typeface="Raleway"/>
                  <a:sym typeface="Raleway"/>
                </a:rPr>
                <a:t>Describes the input format, providing clarity for users.</a:t>
              </a:r>
            </a:p>
          </p:txBody>
        </p:sp>
      </p:grpSp>
      <p:grpSp>
        <p:nvGrpSpPr>
          <p:cNvPr id="22" name="Group 15">
            <a:extLst>
              <a:ext uri="{FF2B5EF4-FFF2-40B4-BE49-F238E27FC236}">
                <a16:creationId xmlns:a16="http://schemas.microsoft.com/office/drawing/2014/main" id="{4002422E-010D-792C-2E93-3E6E59E6FC7F}"/>
              </a:ext>
            </a:extLst>
          </p:cNvPr>
          <p:cNvGrpSpPr/>
          <p:nvPr/>
        </p:nvGrpSpPr>
        <p:grpSpPr>
          <a:xfrm>
            <a:off x="6116320" y="4879729"/>
            <a:ext cx="3632200" cy="991969"/>
            <a:chOff x="0" y="19051"/>
            <a:chExt cx="7264400" cy="1983936"/>
          </a:xfrm>
        </p:grpSpPr>
        <p:sp>
          <p:nvSpPr>
            <p:cNvPr id="23" name="TextBox 16">
              <a:extLst>
                <a:ext uri="{FF2B5EF4-FFF2-40B4-BE49-F238E27FC236}">
                  <a16:creationId xmlns:a16="http://schemas.microsoft.com/office/drawing/2014/main" id="{E3CF4BB3-F4C1-1B8D-93A0-EA8050775CD3}"/>
                </a:ext>
              </a:extLst>
            </p:cNvPr>
            <p:cNvSpPr txBox="1"/>
            <p:nvPr/>
          </p:nvSpPr>
          <p:spPr>
            <a:xfrm>
              <a:off x="0" y="19051"/>
              <a:ext cx="726440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200"/>
                </a:lnSpc>
              </a:pPr>
              <a:r>
                <a:rPr lang="en-US" sz="2000" b="1" dirty="0">
                  <a:solidFill>
                    <a:srgbClr val="4B86B4"/>
                  </a:solidFill>
                  <a:latin typeface="Raleway Bold"/>
                  <a:ea typeface="Raleway Bold"/>
                  <a:cs typeface="Raleway Bold"/>
                  <a:sym typeface="Raleway Bold"/>
                </a:rPr>
                <a:t>Output Format</a:t>
              </a:r>
            </a:p>
          </p:txBody>
        </p:sp>
        <p:sp>
          <p:nvSpPr>
            <p:cNvPr id="24" name="TextBox 17">
              <a:extLst>
                <a:ext uri="{FF2B5EF4-FFF2-40B4-BE49-F238E27FC236}">
                  <a16:creationId xmlns:a16="http://schemas.microsoft.com/office/drawing/2014/main" id="{736C6462-91F9-80EE-D4C6-FB71AB839C02}"/>
                </a:ext>
              </a:extLst>
            </p:cNvPr>
            <p:cNvSpPr txBox="1"/>
            <p:nvPr/>
          </p:nvSpPr>
          <p:spPr>
            <a:xfrm>
              <a:off x="0" y="970398"/>
              <a:ext cx="7264400" cy="103258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53"/>
                </a:lnSpc>
              </a:pPr>
              <a:r>
                <a:rPr lang="en-US" sz="1467" dirty="0">
                  <a:solidFill>
                    <a:srgbClr val="2A4D69"/>
                  </a:solidFill>
                  <a:latin typeface="Raleway"/>
                  <a:ea typeface="Raleway"/>
                  <a:cs typeface="Raleway"/>
                  <a:sym typeface="Raleway"/>
                </a:rPr>
                <a:t>Describes the output format. Which is expected from the program.</a:t>
              </a:r>
            </a:p>
          </p:txBody>
        </p:sp>
      </p:grpSp>
      <p:sp>
        <p:nvSpPr>
          <p:cNvPr id="18" name="Slide Number Placeholder 18">
            <a:extLst>
              <a:ext uri="{FF2B5EF4-FFF2-40B4-BE49-F238E27FC236}">
                <a16:creationId xmlns:a16="http://schemas.microsoft.com/office/drawing/2014/main" id="{A764B440-09B4-5F58-A790-4E36C03BABE6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6590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25</a:t>
            </a:fld>
            <a:endParaRPr lang="en-US" sz="3200" b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962B668-A67E-D8BC-1FA8-AF7292DDCDD2}"/>
              </a:ext>
            </a:extLst>
          </p:cNvPr>
          <p:cNvSpPr txBox="1"/>
          <p:nvPr/>
        </p:nvSpPr>
        <p:spPr>
          <a:xfrm>
            <a:off x="2967130" y="775504"/>
            <a:ext cx="62577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Project GitHub Repository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BF67EF-B448-F6A9-C317-C34151C17582}"/>
              </a:ext>
            </a:extLst>
          </p:cNvPr>
          <p:cNvSpPr txBox="1"/>
          <p:nvPr/>
        </p:nvSpPr>
        <p:spPr>
          <a:xfrm>
            <a:off x="1652844" y="2271529"/>
            <a:ext cx="88863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🔗 </a:t>
            </a:r>
            <a:r>
              <a:rPr lang="en-US" b="1" dirty="0"/>
              <a:t>GitHub Repository Link: </a:t>
            </a:r>
            <a:r>
              <a:rPr lang="en-US" b="1" dirty="0">
                <a:hlinkClick r:id="rId2"/>
              </a:rPr>
              <a:t>https://github.com/Sakib-008/Numerical-Lab-Project</a:t>
            </a:r>
            <a:r>
              <a:rPr lang="en-US" b="1" dirty="0"/>
              <a:t> 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34E7FD-006A-61E4-436F-2FBA5B1C7D0F}"/>
              </a:ext>
            </a:extLst>
          </p:cNvPr>
          <p:cNvSpPr txBox="1"/>
          <p:nvPr/>
        </p:nvSpPr>
        <p:spPr>
          <a:xfrm>
            <a:off x="3048964" y="3429000"/>
            <a:ext cx="609407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dirty="0">
                <a:solidFill>
                  <a:schemeClr val="tx2"/>
                </a:solidFill>
              </a:rPr>
              <a:t>Thank You</a:t>
            </a:r>
          </a:p>
        </p:txBody>
      </p:sp>
      <p:sp>
        <p:nvSpPr>
          <p:cNvPr id="6" name="Slide Number Placeholder 18">
            <a:extLst>
              <a:ext uri="{FF2B5EF4-FFF2-40B4-BE49-F238E27FC236}">
                <a16:creationId xmlns:a16="http://schemas.microsoft.com/office/drawing/2014/main" id="{F0B3EFA8-E9DF-E8B4-CF63-027DDB2670C6}"/>
              </a:ext>
            </a:extLst>
          </p:cNvPr>
          <p:cNvSpPr txBox="1">
            <a:spLocks/>
          </p:cNvSpPr>
          <p:nvPr/>
        </p:nvSpPr>
        <p:spPr>
          <a:xfrm>
            <a:off x="26748" y="6401483"/>
            <a:ext cx="6590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F1D01A0-D233-4FA1-8698-D063092A8F39}" type="slidenum">
              <a:rPr lang="en-US" sz="3200" b="1" smtClean="0"/>
              <a:pPr/>
              <a:t>26</a:t>
            </a:fld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7497558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1811</TotalTime>
  <Words>963</Words>
  <Application>Microsoft Office PowerPoint</Application>
  <PresentationFormat>Widescreen</PresentationFormat>
  <Paragraphs>194</Paragraphs>
  <Slides>26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44" baseType="lpstr">
      <vt:lpstr>Aptos</vt:lpstr>
      <vt:lpstr>Aptos Display</vt:lpstr>
      <vt:lpstr>Arial</vt:lpstr>
      <vt:lpstr>Calibri</vt:lpstr>
      <vt:lpstr>Clear Sans</vt:lpstr>
      <vt:lpstr>Clear Sans Medium</vt:lpstr>
      <vt:lpstr>Georgia Pro Condensed Light</vt:lpstr>
      <vt:lpstr>Gilda Display</vt:lpstr>
      <vt:lpstr>HK Grotesk</vt:lpstr>
      <vt:lpstr>HK Grotesk Light</vt:lpstr>
      <vt:lpstr>HK Grotesk Semi-Bold</vt:lpstr>
      <vt:lpstr>Noto Serif Display ExtraCondensed Light</vt:lpstr>
      <vt:lpstr>Raleway</vt:lpstr>
      <vt:lpstr>Raleway Bold</vt:lpstr>
      <vt:lpstr>Tenor Sans</vt:lpstr>
      <vt:lpstr>TT Interphases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 for Your Attention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 for Your Attention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Md Istiaque Ahmed Asif</dc:creator>
  <cp:lastModifiedBy>Md Istiaque Ahmed Asif</cp:lastModifiedBy>
  <cp:revision>25</cp:revision>
  <dcterms:created xsi:type="dcterms:W3CDTF">2025-12-18T18:00:57Z</dcterms:created>
  <dcterms:modified xsi:type="dcterms:W3CDTF">2025-12-20T22:28:12Z</dcterms:modified>
</cp:coreProperties>
</file>