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94" r:id="rId3"/>
    <p:sldId id="296" r:id="rId4"/>
    <p:sldId id="295" r:id="rId5"/>
    <p:sldId id="256" r:id="rId6"/>
    <p:sldId id="257" r:id="rId7"/>
    <p:sldId id="297" r:id="rId8"/>
    <p:sldId id="266" r:id="rId9"/>
    <p:sldId id="267" r:id="rId10"/>
    <p:sldId id="274" r:id="rId11"/>
    <p:sldId id="275" r:id="rId12"/>
    <p:sldId id="298" r:id="rId13"/>
    <p:sldId id="278" r:id="rId14"/>
    <p:sldId id="280" r:id="rId15"/>
    <p:sldId id="299" r:id="rId16"/>
    <p:sldId id="283" r:id="rId17"/>
    <p:sldId id="284" r:id="rId18"/>
    <p:sldId id="292" r:id="rId19"/>
    <p:sldId id="276" r:id="rId20"/>
    <p:sldId id="271" r:id="rId21"/>
    <p:sldId id="285" r:id="rId22"/>
    <p:sldId id="286" r:id="rId23"/>
    <p:sldId id="287" r:id="rId24"/>
    <p:sldId id="289" r:id="rId25"/>
    <p:sldId id="290" r:id="rId26"/>
    <p:sldId id="29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12FB8-99BA-46AB-8D3A-3D7542B8E93D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C92C2-C328-4794-B093-339E21C08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2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E29D-D839-2668-94A5-594EF313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C5445-3B4D-4DC9-B5A4-C49DC939F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DDC06-2BA4-FCD1-3CE7-0A8345EB9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0BB4D-E176-BE2A-5F50-2DAA830DB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9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54D3-CF46-B447-6DDC-C8534718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4E228-4B6B-6E01-24EC-E2A747A19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1DC1A-B0D3-A35A-E065-456C029E6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B7D59-9D3D-D2E2-98AB-26FDFEF75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83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5818-FF25-5538-4827-B75D7B55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71DBD-2FC7-FF75-FD95-116B5023A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0C68D-FF1F-F845-05C1-DBEC4237B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87BC9-E829-5A12-D9BD-43151B01A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94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ECFF-3D4D-7F14-83E7-30CD5428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E912C-F1A3-CF2E-62B8-64604ECB1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64CAE-62B9-9F63-00EC-AA713043C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5CA03-7E49-9AD5-38E5-37E859BDB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03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D8306-CA57-15A7-5346-92A7E6F9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A0925-81D6-87B2-0C1C-72A205273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D11D0-AED3-752E-F6C2-80F9A3153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96D58-A72A-4CD0-E056-24060C104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99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66B0-8E35-61B7-6974-B519ADC8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0CCBA-5BF5-E85A-0EED-F557AF66A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70F07-0308-A762-DE7C-5E6BA83F7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B5629-2C85-2FCF-AA06-7B24B4E25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C92C2-C328-4794-B093-339E21C080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05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A1881-2A93-4013-8041-545AC1F0C32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05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AA82-F88F-1712-6CC9-0F5413C7F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F80BA-7692-3C0F-496E-EB3F2AB42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0F3D3-FAB8-B505-02E0-8E129836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6FA49-E761-5710-F1BB-BF02E02B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D2C2E-8871-3E7D-F8D1-8A1F6DC9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2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A54B-5D7B-D15E-50F5-25AD3AEB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7256D-8CAD-C71A-7A45-F9680DEA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4669A-C3CF-6F46-20E4-0C2CAC7E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C289B-50E1-E2BF-5B46-B294CA40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B2ADE-4520-57EF-1BC3-22B3B67A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4946-2DB8-ACA1-5B13-D94C2697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D362E-EC15-CAFB-B5E5-86774359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89EEA-59A4-418A-B3AA-2426CEF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9FDA5-0C80-5CB2-28A5-67E94A8B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3AA53-3766-4E58-3342-451893F3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D5C6-337D-9F69-F2BB-76D5D465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95C99-2340-68CF-D781-6D259AE69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8026B-282C-4DCF-927D-8A724597B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F534A-26BD-66B8-74D8-4B25DCA0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61547-078C-1D34-973A-0CA4E568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37D4A-9061-2C10-72D7-292A72B9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1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D1B-1929-6023-FEF6-52F89154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0528C-E5EA-D9E5-5712-516307106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8C893-50AF-63ED-3F3B-8BC389489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7942B-5DE9-6374-DDC4-05F67F9A7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C2F63-EEA7-CBFF-8666-64E84483E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4F3BC-4595-04F4-5B09-234485DF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7E94C3-4E1F-4C85-8D31-00849888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7BE60-BFA9-C764-A94E-5FAD8446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98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8308-C0DF-5641-D55D-5AE37935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09599-AFAA-EBC7-CE91-7CCA0617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A38691-033B-1352-E30D-FA802C98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37551-6854-94D6-6D17-4A613CCF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9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7FD56-6F88-9322-4CDC-10BC2D3E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A04A0-153B-5802-B09B-69B07C82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BFAED-0DFF-3E2C-99E8-4D35AA8F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6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3F45-1EF7-E7D6-18EF-7C821937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84AA-59EC-C863-2250-CF96239C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658E0-D4B7-69FF-7CEA-D114D7DBA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C657C-F765-D938-B73A-6EA02AA3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7811B-F6D0-C82E-22CD-56215ABF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9C914-71CE-41DC-B8B5-E6F61AB7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19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263B-DB89-82ED-D247-C98E53F1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224FA-893E-7AA9-E6D9-5F04B1D47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2A942-2BB3-50A9-05E4-504A1DBC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237D-9C94-5352-C7EF-B3D0BDD7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54080-6BFD-F3BC-058C-297DE60D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35AF-CB8F-9549-C3CD-7BA39CA8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E803-8F18-5062-8411-F3BCA43A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38848-9C9A-9D22-9C6E-CAA23C473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3FA62-C29D-DF91-1AFB-CFE4A08A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92364-223D-0F7A-1CE3-421C26F1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AC904-9E81-F016-A0F6-B0AE10BD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82CF4-BDF7-AB6B-B162-E4CC8924E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2D7ED-4953-7B04-B293-792C9EED6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FFC4D-DF77-70FB-260A-13EAD942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D04B7-A693-69DA-D1ED-496D22CF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F08AF-2C76-B82C-9FD0-C59D6468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5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51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95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54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23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89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07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721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90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2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93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4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26329-A3DD-3676-B664-3ABDF18D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84B4B-A1A3-698A-9E5E-2F8D4F8E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1BE2D-804B-D990-F713-09A097849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93E42-2F99-4BEB-99C7-C79532C6B3A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0726B-1312-6ADB-0608-4DE5A297D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72134-8EA3-B61E-EBB1-E46C4D252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D01A0-D233-4FA1-8698-D063092A8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84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7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kib-008/Numerical-Lab-Projec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3204-637A-B9FA-8C77-B78D55AE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695527-BB9B-9D94-76C9-CCEA414302D9}"/>
              </a:ext>
            </a:extLst>
          </p:cNvPr>
          <p:cNvGrpSpPr/>
          <p:nvPr/>
        </p:nvGrpSpPr>
        <p:grpSpPr>
          <a:xfrm>
            <a:off x="6197600" y="0"/>
            <a:ext cx="5994400" cy="6858000"/>
            <a:chOff x="0" y="0"/>
            <a:chExt cx="1393034" cy="159372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B38C6BF0-34CA-E439-E957-080DBD1863D9}"/>
                </a:ext>
              </a:extLst>
            </p:cNvPr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27014C17-984E-71CE-1685-2BC067C2336A}"/>
              </a:ext>
            </a:extLst>
          </p:cNvPr>
          <p:cNvGrpSpPr/>
          <p:nvPr/>
        </p:nvGrpSpPr>
        <p:grpSpPr>
          <a:xfrm>
            <a:off x="263144" y="464313"/>
            <a:ext cx="6522720" cy="4224208"/>
            <a:chOff x="-381000" y="-3876038"/>
            <a:chExt cx="13045440" cy="8448417"/>
          </a:xfrm>
        </p:grpSpPr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A55AA8FB-B769-D717-7971-684CF9F4A4B0}"/>
                </a:ext>
              </a:extLst>
            </p:cNvPr>
            <p:cNvSpPr txBox="1"/>
            <p:nvPr/>
          </p:nvSpPr>
          <p:spPr>
            <a:xfrm>
              <a:off x="-218440" y="4008121"/>
              <a:ext cx="10871200" cy="5642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Roll: 2207007, 2207008, 2207009</a:t>
              </a: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8DA59D41-49B6-D31D-3F05-543506ADD7DE}"/>
                </a:ext>
              </a:extLst>
            </p:cNvPr>
            <p:cNvSpPr txBox="1"/>
            <p:nvPr/>
          </p:nvSpPr>
          <p:spPr>
            <a:xfrm>
              <a:off x="-381000" y="-3876038"/>
              <a:ext cx="13045440" cy="7386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2" dirty="0">
                  <a:solidFill>
                    <a:srgbClr val="1A73E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Numerical Methods Project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1111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8179-DDE0-B6E6-94ED-B66ECD869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EBDC88C-787F-A855-5566-26194E27DD36}"/>
              </a:ext>
            </a:extLst>
          </p:cNvPr>
          <p:cNvGrpSpPr/>
          <p:nvPr/>
        </p:nvGrpSpPr>
        <p:grpSpPr>
          <a:xfrm>
            <a:off x="6197600" y="0"/>
            <a:ext cx="5994400" cy="6858000"/>
            <a:chOff x="0" y="0"/>
            <a:chExt cx="1393034" cy="15937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67D0806-82E4-C41C-4061-9A99FF36A12E}"/>
                </a:ext>
              </a:extLst>
            </p:cNvPr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11E4C0F-BF59-C190-8311-4A4584D24B99}"/>
              </a:ext>
            </a:extLst>
          </p:cNvPr>
          <p:cNvGrpSpPr/>
          <p:nvPr/>
        </p:nvGrpSpPr>
        <p:grpSpPr>
          <a:xfrm>
            <a:off x="254000" y="482601"/>
            <a:ext cx="6522720" cy="4788465"/>
            <a:chOff x="-381000" y="-3876038"/>
            <a:chExt cx="13045440" cy="957693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B01E72A-6577-30EB-F924-8D3E4C27076D}"/>
                </a:ext>
              </a:extLst>
            </p:cNvPr>
            <p:cNvSpPr txBox="1"/>
            <p:nvPr/>
          </p:nvSpPr>
          <p:spPr>
            <a:xfrm>
              <a:off x="-218440" y="4008121"/>
              <a:ext cx="10871200" cy="16927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Name: Md Fahim Hossen</a:t>
              </a:r>
            </a:p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Roll: 2207007</a:t>
              </a:r>
            </a:p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Role: Folder structure and slide creation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CAD7B8E-D436-BCE5-DAFC-05EF5AD2C99E}"/>
                </a:ext>
              </a:extLst>
            </p:cNvPr>
            <p:cNvSpPr txBox="1"/>
            <p:nvPr/>
          </p:nvSpPr>
          <p:spPr>
            <a:xfrm>
              <a:off x="-381000" y="-3876038"/>
              <a:ext cx="13045440" cy="7386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2" dirty="0">
                  <a:solidFill>
                    <a:srgbClr val="1A73E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Numerical Methods Project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2721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F6C6BD-637E-1174-213B-FB924C73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3E6F24-27E6-818A-BEFC-59D5CA768661}"/>
              </a:ext>
            </a:extLst>
          </p:cNvPr>
          <p:cNvSpPr txBox="1"/>
          <p:nvPr/>
        </p:nvSpPr>
        <p:spPr>
          <a:xfrm>
            <a:off x="269240" y="999430"/>
            <a:ext cx="3632200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6400"/>
              </a:lnSpc>
            </a:pPr>
            <a:r>
              <a:rPr lang="en-US" sz="5400" spc="-128" dirty="0">
                <a:solidFill>
                  <a:srgbClr val="1A73E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My contribution to the project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344CE7A5-97BC-3795-E9E0-0B5D31AF615E}"/>
              </a:ext>
            </a:extLst>
          </p:cNvPr>
          <p:cNvSpPr/>
          <p:nvPr/>
        </p:nvSpPr>
        <p:spPr>
          <a:xfrm>
            <a:off x="0" y="444500"/>
            <a:ext cx="12192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2F61553-380E-F904-8C5A-979BFC678198}"/>
              </a:ext>
            </a:extLst>
          </p:cNvPr>
          <p:cNvSpPr/>
          <p:nvPr/>
        </p:nvSpPr>
        <p:spPr>
          <a:xfrm>
            <a:off x="0" y="6413500"/>
            <a:ext cx="12192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9D3029-B23B-6E17-8F84-9B5C3644F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3" y="3599674"/>
            <a:ext cx="3713737" cy="26757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D5D6A1-A7B1-E984-FCA7-4CED92894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232" y="582532"/>
            <a:ext cx="5712594" cy="2992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6531D3-F9C9-3FB6-F489-ED9A03701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780" y="3165317"/>
            <a:ext cx="1286054" cy="819264"/>
          </a:xfrm>
          <a:prstGeom prst="rect">
            <a:avLst/>
          </a:prstGeom>
        </p:spPr>
      </p:pic>
      <p:grpSp>
        <p:nvGrpSpPr>
          <p:cNvPr id="6" name="Group 9">
            <a:extLst>
              <a:ext uri="{FF2B5EF4-FFF2-40B4-BE49-F238E27FC236}">
                <a16:creationId xmlns:a16="http://schemas.microsoft.com/office/drawing/2014/main" id="{F303C588-14E8-A37B-03C8-D87EF6A91000}"/>
              </a:ext>
            </a:extLst>
          </p:cNvPr>
          <p:cNvGrpSpPr/>
          <p:nvPr/>
        </p:nvGrpSpPr>
        <p:grpSpPr>
          <a:xfrm>
            <a:off x="9074150" y="4025900"/>
            <a:ext cx="2681895" cy="1084213"/>
            <a:chOff x="0" y="0"/>
            <a:chExt cx="5363789" cy="2168428"/>
          </a:xfrm>
        </p:grpSpPr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59E5BEB3-22D8-673E-9C31-2785B7939C27}"/>
                </a:ext>
              </a:extLst>
            </p:cNvPr>
            <p:cNvSpPr txBox="1"/>
            <p:nvPr/>
          </p:nvSpPr>
          <p:spPr>
            <a:xfrm>
              <a:off x="17090" y="0"/>
              <a:ext cx="5346699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39"/>
                </a:lnSpc>
              </a:pPr>
              <a:r>
                <a:rPr lang="en-US" sz="1866" b="1" dirty="0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Slide template</a:t>
              </a:r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7006B979-C2DD-9AAB-0DD6-823E61A1B89A}"/>
                </a:ext>
              </a:extLst>
            </p:cNvPr>
            <p:cNvSpPr txBox="1"/>
            <p:nvPr/>
          </p:nvSpPr>
          <p:spPr>
            <a:xfrm>
              <a:off x="0" y="1193801"/>
              <a:ext cx="5312521" cy="97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19"/>
                </a:lnSpc>
              </a:pPr>
              <a:r>
                <a:rPr lang="en-US" sz="1600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Made the planning of slide creating and visuals</a:t>
              </a: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16CD7D18-0191-1F4C-CFBF-31D333A1B5D4}"/>
              </a:ext>
            </a:extLst>
          </p:cNvPr>
          <p:cNvGrpSpPr/>
          <p:nvPr/>
        </p:nvGrpSpPr>
        <p:grpSpPr>
          <a:xfrm>
            <a:off x="5238750" y="4025900"/>
            <a:ext cx="2673350" cy="1084213"/>
            <a:chOff x="0" y="0"/>
            <a:chExt cx="5346700" cy="2168428"/>
          </a:xfrm>
        </p:grpSpPr>
        <p:sp>
          <p:nvSpPr>
            <p:cNvPr id="10" name="TextBox 13">
              <a:extLst>
                <a:ext uri="{FF2B5EF4-FFF2-40B4-BE49-F238E27FC236}">
                  <a16:creationId xmlns:a16="http://schemas.microsoft.com/office/drawing/2014/main" id="{39CFD9C8-1A10-B9AE-E3D5-82DC64EDB9D8}"/>
                </a:ext>
              </a:extLst>
            </p:cNvPr>
            <p:cNvSpPr txBox="1"/>
            <p:nvPr/>
          </p:nvSpPr>
          <p:spPr>
            <a:xfrm>
              <a:off x="0" y="0"/>
              <a:ext cx="5346700" cy="564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39"/>
                </a:lnSpc>
              </a:pPr>
              <a:r>
                <a:rPr lang="en-US" sz="1866" b="1" dirty="0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Basic Structure</a:t>
              </a:r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5AD9085B-DD96-EFBD-2493-AE2FC79FCCED}"/>
                </a:ext>
              </a:extLst>
            </p:cNvPr>
            <p:cNvSpPr txBox="1"/>
            <p:nvPr/>
          </p:nvSpPr>
          <p:spPr>
            <a:xfrm>
              <a:off x="0" y="1193801"/>
              <a:ext cx="5346700" cy="97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19"/>
                </a:lnSpc>
              </a:pPr>
              <a:r>
                <a:rPr lang="en-US" sz="1600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Created the basic file and folder structure for the whole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8836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CCCF4EB-C4B6-5065-FE34-C78D34C39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612" y="-160414"/>
            <a:ext cx="5333243" cy="410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94658F71-C846-AC83-3714-C114C99AC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812" y="5796200"/>
            <a:ext cx="2012452" cy="733527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F03BF62-853B-2F13-AAD8-7A501ACA1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46" y="3259227"/>
            <a:ext cx="3614601" cy="359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53F9EE3-ADFD-DECF-CDA0-DDD134813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989" y="0"/>
            <a:ext cx="6543040" cy="739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C9078898-8042-074B-7F6D-F674C3067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862" y="3206796"/>
            <a:ext cx="1333686" cy="1200318"/>
          </a:xfrm>
          <a:prstGeom prst="rect">
            <a:avLst/>
          </a:prstGeom>
        </p:spPr>
      </p:pic>
      <p:pic>
        <p:nvPicPr>
          <p:cNvPr id="12" name="Picture 11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4097B7A9-B929-55EF-992A-BB86814D24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00" y="6548109"/>
            <a:ext cx="1333686" cy="309891"/>
          </a:xfrm>
          <a:prstGeom prst="rect">
            <a:avLst/>
          </a:prstGeom>
        </p:spPr>
      </p:pic>
      <p:pic>
        <p:nvPicPr>
          <p:cNvPr id="14" name="Picture 1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8358B6CF-DCAB-61BF-D81D-BCF7173A90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5234" y="3259227"/>
            <a:ext cx="1761552" cy="91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40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2387-6E53-D572-E9E1-E29DA0E7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9B77830-0C53-6BA1-6BD9-DE40AF32D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225" y="-79858"/>
            <a:ext cx="5966997" cy="644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F59B31-A479-32FC-689C-F22600DEC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065" y="6015127"/>
            <a:ext cx="2114845" cy="724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D6B15A-F834-278E-8578-126C03AAA44F}"/>
              </a:ext>
            </a:extLst>
          </p:cNvPr>
          <p:cNvSpPr txBox="1"/>
          <p:nvPr/>
        </p:nvSpPr>
        <p:spPr>
          <a:xfrm>
            <a:off x="2267143" y="6369796"/>
            <a:ext cx="7211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These folder structures were later changed according to the need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B46BA7-6C4E-D4B0-1BD3-B306AEE7D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889" y="5847018"/>
            <a:ext cx="1125038" cy="4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42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D4B9E-4C67-3A92-A0EE-634A14E0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4372BCC-156A-5CCE-D630-4F112DC299EC}"/>
              </a:ext>
            </a:extLst>
          </p:cNvPr>
          <p:cNvSpPr txBox="1"/>
          <p:nvPr/>
        </p:nvSpPr>
        <p:spPr>
          <a:xfrm>
            <a:off x="269240" y="999430"/>
            <a:ext cx="3632200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6400"/>
              </a:lnSpc>
            </a:pPr>
            <a:r>
              <a:rPr lang="en-US" sz="5400" spc="-128" dirty="0">
                <a:solidFill>
                  <a:srgbClr val="1A73E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My contribution to the project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32882983-23CD-926D-2883-9E119578BBAA}"/>
              </a:ext>
            </a:extLst>
          </p:cNvPr>
          <p:cNvSpPr/>
          <p:nvPr/>
        </p:nvSpPr>
        <p:spPr>
          <a:xfrm>
            <a:off x="0" y="444500"/>
            <a:ext cx="12192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5C7310A-FDF3-6AA6-DC48-86EA0CE58EE3}"/>
              </a:ext>
            </a:extLst>
          </p:cNvPr>
          <p:cNvSpPr/>
          <p:nvPr/>
        </p:nvSpPr>
        <p:spPr>
          <a:xfrm>
            <a:off x="0" y="6413500"/>
            <a:ext cx="12192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8FBCC7-A6A2-FD91-D0FD-2ED6CB507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3" y="3599674"/>
            <a:ext cx="3713737" cy="2675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2E79AA2-3F32-561D-B916-D99F3E890559}"/>
              </a:ext>
            </a:extLst>
          </p:cNvPr>
          <p:cNvSpPr txBox="1"/>
          <p:nvPr/>
        </p:nvSpPr>
        <p:spPr>
          <a:xfrm>
            <a:off x="6096000" y="2844690"/>
            <a:ext cx="46553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False Position Method</a:t>
            </a:r>
          </a:p>
          <a:p>
            <a:pPr marL="342900" indent="-342900">
              <a:buAutoNum type="arabicPeriod"/>
            </a:pPr>
            <a:r>
              <a:rPr lang="en-US" sz="2400" dirty="0"/>
              <a:t>Newton Raphson Method</a:t>
            </a:r>
          </a:p>
          <a:p>
            <a:pPr marL="342900" indent="-342900">
              <a:buAutoNum type="arabicPeriod"/>
            </a:pPr>
            <a:r>
              <a:rPr lang="en-US" sz="2400" dirty="0"/>
              <a:t>Secant Method</a:t>
            </a:r>
          </a:p>
          <a:p>
            <a:pPr marL="342900" indent="-342900">
              <a:buAutoNum type="arabicPeriod"/>
            </a:pPr>
            <a:r>
              <a:rPr lang="en-US" sz="2400" dirty="0"/>
              <a:t>Simpson’s 1/3 Method</a:t>
            </a:r>
          </a:p>
          <a:p>
            <a:pPr marL="342900" indent="-342900">
              <a:buAutoNum type="arabicPeriod"/>
            </a:pPr>
            <a:r>
              <a:rPr lang="en-US" sz="2400" dirty="0"/>
              <a:t>Simpson’s 3/8 Method</a:t>
            </a:r>
          </a:p>
          <a:p>
            <a:pPr marL="342900" indent="-342900">
              <a:buAutoNum type="arabicPeriod"/>
            </a:pPr>
            <a:r>
              <a:rPr lang="en-US" sz="2400" dirty="0"/>
              <a:t>Differential Equation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F4B32D-1FFB-2508-CEEC-591C0A018BF6}"/>
              </a:ext>
            </a:extLst>
          </p:cNvPr>
          <p:cNvSpPr txBox="1"/>
          <p:nvPr/>
        </p:nvSpPr>
        <p:spPr>
          <a:xfrm>
            <a:off x="5821680" y="2074319"/>
            <a:ext cx="4375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Method Implemented by me</a:t>
            </a:r>
          </a:p>
        </p:txBody>
      </p:sp>
    </p:spTree>
    <p:extLst>
      <p:ext uri="{BB962C8B-B14F-4D97-AF65-F5344CB8AC3E}">
        <p14:creationId xmlns:p14="http://schemas.microsoft.com/office/powerpoint/2010/main" val="287906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3F01-C24A-C366-4C3B-68870884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6DB273-03ED-C898-081D-3C64C258369F}"/>
              </a:ext>
            </a:extLst>
          </p:cNvPr>
          <p:cNvSpPr txBox="1"/>
          <p:nvPr/>
        </p:nvSpPr>
        <p:spPr>
          <a:xfrm>
            <a:off x="5111691" y="135113"/>
            <a:ext cx="1968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2207007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15DF2F-68E1-E341-A51C-A9895DC4A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747" y="3187386"/>
            <a:ext cx="1676460" cy="44263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5D80069-ABD4-5804-CC94-895F3E011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1C50DA4-1DBB-CCBB-2F5C-4CDCDFE0D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480" y="1587735"/>
            <a:ext cx="5072443" cy="491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97AF7B-EF57-E5D5-AE42-E41B66B47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69" y="4234125"/>
            <a:ext cx="2400635" cy="143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A6369-671F-DC48-C460-5163F705C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2274886"/>
            <a:ext cx="4510039" cy="1641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5EAD4C-C966-F2C1-EB8E-ACBB827F40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3236" y="5592250"/>
            <a:ext cx="1266131" cy="589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41EFBB-034E-CE31-3B9B-89F79DF731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5370" y="3724710"/>
            <a:ext cx="3839111" cy="2162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4ADDF5-03B8-0703-6894-A5DD5CC0D4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2888" y="1587735"/>
            <a:ext cx="3824077" cy="19271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535FEB-01F3-B995-F17B-2AAE1506ED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5445" y="6019303"/>
            <a:ext cx="1622478" cy="5898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33E7C5-2B4E-7EAB-06A5-519B8E166F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1992" y="1513127"/>
            <a:ext cx="3424376" cy="5898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F026BDB-FFB2-4768-57EC-F77613429BA3}"/>
              </a:ext>
            </a:extLst>
          </p:cNvPr>
          <p:cNvSpPr txBox="1"/>
          <p:nvPr/>
        </p:nvSpPr>
        <p:spPr>
          <a:xfrm>
            <a:off x="3478928" y="824120"/>
            <a:ext cx="4650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False Position Process</a:t>
            </a:r>
          </a:p>
        </p:txBody>
      </p:sp>
    </p:spTree>
    <p:extLst>
      <p:ext uri="{BB962C8B-B14F-4D97-AF65-F5344CB8AC3E}">
        <p14:creationId xmlns:p14="http://schemas.microsoft.com/office/powerpoint/2010/main" val="154793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97B0-C916-EC10-3AC2-C4EC3AB7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D285251-2E74-31B2-D6DF-36D59255E867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2207007</a:t>
            </a:r>
            <a:endParaRPr lang="en-US" sz="6000" b="1" dirty="0"/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639AD18-7549-719D-9A20-7010F884F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C7023A3-3EB2-C5ED-0479-5A9BE24BB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133" y="859452"/>
            <a:ext cx="4281240" cy="549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A8B455-27B2-672A-CCC8-18FD69CF4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292B21-F44E-6D43-619F-A4819F97E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2113" y="1420740"/>
            <a:ext cx="3970756" cy="2738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CF6ECA-C4EE-6ADC-F7F8-ABCA2C5FDE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113" y="4317530"/>
            <a:ext cx="3970756" cy="2239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4A3E13-BC30-C9FD-96F6-B3B275B979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31" y="1420740"/>
            <a:ext cx="3838843" cy="2740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BE44C9-35C6-FC22-C2B2-13CBB4A22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31" y="4349846"/>
            <a:ext cx="3785722" cy="21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78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7593-FAD2-0088-F090-584D8F09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BEEA88-2DDB-2E20-59FB-A780827166FB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2207007</a:t>
            </a:r>
            <a:endParaRPr lang="en-US" sz="6000" b="1" dirty="0"/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00FFE80-2298-0042-C496-53E29D1D6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5069C-1A18-E533-6E57-D264677A2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BB36D1A-4803-D604-F31F-414AB38F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18" y="1197863"/>
            <a:ext cx="4919963" cy="521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CA4055-313C-12D9-EE98-30356F6A1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242" y="5723870"/>
            <a:ext cx="1533739" cy="609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7C2330-B4B2-7877-14E4-FCA2FB473C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590" y="1197863"/>
            <a:ext cx="2724530" cy="25721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D9D6FD4-5EFE-8712-AA8A-D4C7E39D9D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007" y="4067203"/>
            <a:ext cx="3063798" cy="22127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48BD50-4413-F7D4-AB15-BF84351E45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5981" y="1206654"/>
            <a:ext cx="3038899" cy="26578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056FCD8-0D12-7F4B-7A9E-C3A6AFC83D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5871" y="4897396"/>
            <a:ext cx="4349547" cy="16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3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B010-0814-8DE6-291E-A240308D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6E2BCFB-FD49-D60C-797E-68A8434B6707}"/>
              </a:ext>
            </a:extLst>
          </p:cNvPr>
          <p:cNvSpPr txBox="1"/>
          <p:nvPr/>
        </p:nvSpPr>
        <p:spPr>
          <a:xfrm>
            <a:off x="4127383" y="136969"/>
            <a:ext cx="3640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/>
              <a:t>2207007</a:t>
            </a:r>
            <a:endParaRPr lang="en-US" sz="6000" b="1" dirty="0"/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89DF09B-893B-7F3C-FDED-8D291E988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55" y="3095578"/>
            <a:ext cx="1966538" cy="50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1634E-AAA2-5B54-B2F7-77D2E4776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29" y="5889278"/>
            <a:ext cx="1692484" cy="8097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1BD7D4-7F70-DD3A-0476-1FA56C461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242" y="5723870"/>
            <a:ext cx="1533739" cy="609685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1EAFA3C-C441-E400-C598-2C66E5567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526" y="1090441"/>
            <a:ext cx="5968453" cy="199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8BD0F7-8152-E18D-92B1-702DE6C0F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721" y="2675056"/>
            <a:ext cx="2324424" cy="952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5DFCA5-1455-413B-7DE9-1EB134DD11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106" y="3681055"/>
            <a:ext cx="3942351" cy="1994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371544-A92F-ACFB-65AD-3F490B354D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005" y="3429000"/>
            <a:ext cx="4375855" cy="316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62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9758-25FC-8401-88B2-48EE9702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DB8E-8CC3-C9DC-3419-975CDC62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00" y="883285"/>
            <a:ext cx="8864600" cy="1325563"/>
          </a:xfrm>
        </p:spPr>
        <p:txBody>
          <a:bodyPr/>
          <a:lstStyle/>
          <a:p>
            <a:r>
              <a:rPr lang="en-US" b="1" dirty="0"/>
              <a:t>Thank You for Your Attention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02ADC-9C08-6D80-4FD3-31367B60D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2646364"/>
            <a:ext cx="10515600" cy="11887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will now hand over to 2207008, who will explain the next steps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2364362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7600" y="0"/>
            <a:ext cx="5994400" cy="6858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000" y="482601"/>
            <a:ext cx="6522720" cy="4788465"/>
            <a:chOff x="-381000" y="-3876038"/>
            <a:chExt cx="13045440" cy="9576931"/>
          </a:xfrm>
        </p:grpSpPr>
        <p:sp>
          <p:nvSpPr>
            <p:cNvPr id="6" name="TextBox 6"/>
            <p:cNvSpPr txBox="1"/>
            <p:nvPr/>
          </p:nvSpPr>
          <p:spPr>
            <a:xfrm>
              <a:off x="-218440" y="4008121"/>
              <a:ext cx="10871200" cy="16927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Name: Kazi Sakibul Hasan </a:t>
              </a:r>
            </a:p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Roll: 2207008 </a:t>
              </a:r>
            </a:p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Role: Implementation &amp; Version Control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381000" y="-3876038"/>
              <a:ext cx="13045440" cy="7386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2" dirty="0">
                  <a:solidFill>
                    <a:srgbClr val="1A73E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Numerical Methods Project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500" y="1162614"/>
            <a:ext cx="3632200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6400"/>
              </a:lnSpc>
            </a:pPr>
            <a:r>
              <a:rPr lang="en-US" sz="6400" spc="-128" dirty="0">
                <a:solidFill>
                  <a:srgbClr val="1A73E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My Role in Version Control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238750" y="1638300"/>
            <a:ext cx="2673350" cy="1084213"/>
            <a:chOff x="0" y="0"/>
            <a:chExt cx="5346700" cy="2168428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53467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39"/>
                </a:lnSpc>
              </a:pPr>
              <a:r>
                <a:rPr lang="en-US" sz="1866" b="1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Repository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93801"/>
              <a:ext cx="5312522" cy="97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19"/>
                </a:lnSpc>
              </a:pPr>
              <a:r>
                <a:rPr lang="en-US" sz="1600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Created and managed Git repository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74150" y="1638300"/>
            <a:ext cx="2673350" cy="1084213"/>
            <a:chOff x="0" y="0"/>
            <a:chExt cx="5346700" cy="2168428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53467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39"/>
                </a:lnSpc>
              </a:pPr>
              <a:r>
                <a:rPr lang="en-US" sz="1866" b="1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Collaboration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93801"/>
              <a:ext cx="5312522" cy="97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19"/>
                </a:lnSpc>
              </a:pPr>
              <a:r>
                <a:rPr lang="en-US" sz="1600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Enabled smooth teamwork and integration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74150" y="4025900"/>
            <a:ext cx="2681895" cy="1084213"/>
            <a:chOff x="0" y="0"/>
            <a:chExt cx="5363789" cy="2168428"/>
          </a:xfrm>
        </p:grpSpPr>
        <p:sp>
          <p:nvSpPr>
            <p:cNvPr id="10" name="TextBox 10"/>
            <p:cNvSpPr txBox="1"/>
            <p:nvPr/>
          </p:nvSpPr>
          <p:spPr>
            <a:xfrm>
              <a:off x="17090" y="0"/>
              <a:ext cx="5346699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39"/>
                </a:lnSpc>
              </a:pPr>
              <a:r>
                <a:rPr lang="en-US" sz="1866" b="1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Stability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93801"/>
              <a:ext cx="5312521" cy="97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19"/>
                </a:lnSpc>
              </a:pPr>
              <a:r>
                <a:rPr lang="en-US" sz="160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Resolved conflicts for main branch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38750" y="4025900"/>
            <a:ext cx="2673350" cy="1084213"/>
            <a:chOff x="0" y="0"/>
            <a:chExt cx="5346700" cy="216842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39"/>
                </a:lnSpc>
              </a:pPr>
              <a:r>
                <a:rPr lang="en-US" sz="1866" b="1">
                  <a:solidFill>
                    <a:srgbClr val="4A4A4A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Management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93801"/>
              <a:ext cx="5346700" cy="974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19"/>
                </a:lnSpc>
              </a:pPr>
              <a:r>
                <a:rPr lang="en-US" sz="160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Handled branches and merges efficiently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0" y="444500"/>
            <a:ext cx="12192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0" y="6413500"/>
            <a:ext cx="12192000" cy="0"/>
          </a:xfrm>
          <a:prstGeom prst="line">
            <a:avLst/>
          </a:prstGeom>
          <a:ln w="19050" cap="flat">
            <a:solidFill>
              <a:srgbClr val="4A4A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31D145-DED0-81CB-58FA-8A61C722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3" y="3599674"/>
            <a:ext cx="3713737" cy="267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4500" y="298097"/>
            <a:ext cx="5549900" cy="2594453"/>
            <a:chOff x="0" y="171450"/>
            <a:chExt cx="11099800" cy="5188906"/>
          </a:xfrm>
        </p:grpSpPr>
        <p:sp>
          <p:nvSpPr>
            <p:cNvPr id="3" name="TextBox 3"/>
            <p:cNvSpPr txBox="1"/>
            <p:nvPr/>
          </p:nvSpPr>
          <p:spPr>
            <a:xfrm>
              <a:off x="0" y="2057400"/>
              <a:ext cx="11099800" cy="3302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C3E50"/>
                  </a:solidFill>
                  <a:effectLst/>
                  <a:uLnTx/>
                  <a:uFillTx/>
                  <a:latin typeface="HK Grotesk Light"/>
                  <a:ea typeface="HK Grotesk Light"/>
                  <a:cs typeface="HK Grotesk Light"/>
                  <a:sym typeface="HK Grotesk Light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 have implemented a file-based input and output system for each numerical method in the project. The source code for every method is organized into separate, method-specific folders, ensuring clarity and modularity in the overall project structure.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1513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586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866" b="0" i="0" u="none" strike="noStrike" kern="1200" cap="none" spc="0" normalizeH="0" baseline="0" noProof="0" dirty="0">
                  <a:ln>
                    <a:noFill/>
                  </a:ln>
                  <a:solidFill>
                    <a:srgbClr val="2C3E50"/>
                  </a:solidFill>
                  <a:effectLst/>
                  <a:uLnTx/>
                  <a:uFillTx/>
                  <a:latin typeface="Gilda Display"/>
                  <a:ea typeface="Gilda Display"/>
                  <a:cs typeface="Gilda Display"/>
                  <a:sym typeface="Gilda Display"/>
                </a:rPr>
                <a:t>Coding Focus</a:t>
              </a:r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EB692A69-F4D0-4C37-D142-8FB2D22CA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279" y="2627739"/>
            <a:ext cx="5784573" cy="166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53F7D5-FDCF-66AF-2526-CC6BB776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6" y="4397888"/>
            <a:ext cx="1691787" cy="13488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B51D3A-B8A6-3DBC-9C7C-F49BCD672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651" y="4308172"/>
            <a:ext cx="2415749" cy="18442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3FDE21-A3DA-F8A2-8CA8-F7A0595FE331}"/>
              </a:ext>
            </a:extLst>
          </p:cNvPr>
          <p:cNvCxnSpPr/>
          <p:nvPr/>
        </p:nvCxnSpPr>
        <p:spPr>
          <a:xfrm flipV="1">
            <a:off x="1940560" y="4308172"/>
            <a:ext cx="609600" cy="764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E63E88-AA5B-58D5-99CA-EF25D9F1A10D}"/>
              </a:ext>
            </a:extLst>
          </p:cNvPr>
          <p:cNvCxnSpPr>
            <a:stCxn id="5" idx="2"/>
          </p:cNvCxnSpPr>
          <p:nvPr/>
        </p:nvCxnSpPr>
        <p:spPr>
          <a:xfrm>
            <a:off x="2811008" y="4291885"/>
            <a:ext cx="623072" cy="78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">
            <a:extLst>
              <a:ext uri="{FF2B5EF4-FFF2-40B4-BE49-F238E27FC236}">
                <a16:creationId xmlns:a16="http://schemas.microsoft.com/office/drawing/2014/main" id="{691D798B-D53A-FF10-2B31-E697C2CE924D}"/>
              </a:ext>
            </a:extLst>
          </p:cNvPr>
          <p:cNvGrpSpPr/>
          <p:nvPr/>
        </p:nvGrpSpPr>
        <p:grpSpPr>
          <a:xfrm>
            <a:off x="6197602" y="278926"/>
            <a:ext cx="5549900" cy="2231328"/>
            <a:chOff x="0" y="171450"/>
            <a:chExt cx="11099800" cy="4462656"/>
          </a:xfrm>
        </p:grpSpPr>
        <p:sp>
          <p:nvSpPr>
            <p:cNvPr id="24" name="TextBox 3">
              <a:extLst>
                <a:ext uri="{FF2B5EF4-FFF2-40B4-BE49-F238E27FC236}">
                  <a16:creationId xmlns:a16="http://schemas.microsoft.com/office/drawing/2014/main" id="{63D895E3-D39E-4709-2620-CE7C381075A0}"/>
                </a:ext>
              </a:extLst>
            </p:cNvPr>
            <p:cNvSpPr txBox="1"/>
            <p:nvPr/>
          </p:nvSpPr>
          <p:spPr>
            <a:xfrm>
              <a:off x="0" y="3328620"/>
              <a:ext cx="11099800" cy="1305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All input and output formats for the implemented modules are documented in the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README.md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file.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30370766-4EFD-FA76-0B98-12CBDA9BC767}"/>
                </a:ext>
              </a:extLst>
            </p:cNvPr>
            <p:cNvSpPr txBox="1"/>
            <p:nvPr/>
          </p:nvSpPr>
          <p:spPr>
            <a:xfrm>
              <a:off x="0" y="171450"/>
              <a:ext cx="11099800" cy="3045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586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866" b="0" i="0" u="none" strike="noStrike" kern="1200" cap="none" spc="0" normalizeH="0" baseline="0" noProof="0" dirty="0">
                  <a:ln>
                    <a:noFill/>
                  </a:ln>
                  <a:solidFill>
                    <a:srgbClr val="2C3E50"/>
                  </a:solidFill>
                  <a:effectLst/>
                  <a:uLnTx/>
                  <a:uFillTx/>
                  <a:latin typeface="Gilda Display"/>
                  <a:ea typeface="Gilda Display"/>
                  <a:cs typeface="Gilda Display"/>
                  <a:sym typeface="Gilda Display"/>
                </a:rPr>
                <a:t>I/O Format In README.md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0DFF05C-7743-0BD9-F294-B4C5F442B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309" y="2627739"/>
            <a:ext cx="5459233" cy="17728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D1CC87-77C0-7507-A31D-AD86ADAE4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027" y="4635512"/>
            <a:ext cx="4663844" cy="19243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500" y="482600"/>
            <a:ext cx="3835400" cy="203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280"/>
              </a:lnSpc>
              <a:spcBef>
                <a:spcPct val="0"/>
              </a:spcBef>
            </a:pPr>
            <a:r>
              <a:rPr lang="en-US" sz="48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Numerical Methods that I Implemeted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238750" y="444500"/>
            <a:ext cx="2876550" cy="1517438"/>
            <a:chOff x="0" y="12700"/>
            <a:chExt cx="5753100" cy="3034874"/>
          </a:xfrm>
        </p:grpSpPr>
        <p:sp>
          <p:nvSpPr>
            <p:cNvPr id="4" name="AutoShape 4"/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55115"/>
              <a:ext cx="5753100" cy="149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reliable technique for finding roots of nonlinear equations by repeatedly halving intervals.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14046"/>
              <a:ext cx="57531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Bisection Method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70950" y="444500"/>
            <a:ext cx="2876550" cy="1517438"/>
            <a:chOff x="0" y="12700"/>
            <a:chExt cx="5753100" cy="3034874"/>
          </a:xfrm>
        </p:grpSpPr>
        <p:sp>
          <p:nvSpPr>
            <p:cNvPr id="8" name="AutoShape 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55115"/>
              <a:ext cx="5753100" cy="149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Factorizes a matrix into lower and upper triangular matrices to solve linear systems efficiently.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14046"/>
              <a:ext cx="57531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LU Decomposition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0" y="3429000"/>
            <a:ext cx="2876550" cy="1517438"/>
            <a:chOff x="0" y="12700"/>
            <a:chExt cx="5753100" cy="3034874"/>
          </a:xfrm>
        </p:grpSpPr>
        <p:sp>
          <p:nvSpPr>
            <p:cNvPr id="12" name="AutoShape 12"/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555115"/>
              <a:ext cx="5753100" cy="149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fourth-order Runge-Kutta method used to solve ordinary differential equations with high accuracy.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14046"/>
              <a:ext cx="57531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RK4 Method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500" y="482600"/>
            <a:ext cx="4038600" cy="2039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5280"/>
              </a:lnSpc>
              <a:spcBef>
                <a:spcPct val="0"/>
              </a:spcBef>
            </a:pPr>
            <a:r>
              <a:rPr lang="en-US" sz="4800" dirty="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Numerical Methods that I Implemented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238750" y="444500"/>
            <a:ext cx="2876550" cy="1690158"/>
            <a:chOff x="0" y="12700"/>
            <a:chExt cx="5753100" cy="3380314"/>
          </a:xfrm>
        </p:grpSpPr>
        <p:sp>
          <p:nvSpPr>
            <p:cNvPr id="4" name="AutoShape 4"/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0555"/>
              <a:ext cx="5753100" cy="149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Estimates function values at points near the start using equally spaced known x values.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14046"/>
              <a:ext cx="5753100" cy="1128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Newton's Forward Interpolation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70950" y="444500"/>
            <a:ext cx="2876550" cy="1690158"/>
            <a:chOff x="0" y="12700"/>
            <a:chExt cx="5753100" cy="3380314"/>
          </a:xfrm>
        </p:grpSpPr>
        <p:sp>
          <p:nvSpPr>
            <p:cNvPr id="8" name="AutoShape 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0555"/>
              <a:ext cx="5753100" cy="149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Estimates function values at points near the end using equally spaced known x values.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14046"/>
              <a:ext cx="5753100" cy="1128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Newton's Backward Interpolation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0" y="3429000"/>
            <a:ext cx="2876550" cy="1714539"/>
            <a:chOff x="0" y="12700"/>
            <a:chExt cx="5753100" cy="3429076"/>
          </a:xfrm>
        </p:grpSpPr>
        <p:sp>
          <p:nvSpPr>
            <p:cNvPr id="12" name="AutoShape 12"/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49317"/>
              <a:ext cx="5753100" cy="149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Estimates function values when known x points may not be equally spaced, providing greater flexibility.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84966"/>
              <a:ext cx="5753100" cy="1128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Divided Difference Interpolation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70950" y="3429000"/>
            <a:ext cx="2876550" cy="1796838"/>
            <a:chOff x="0" y="12700"/>
            <a:chExt cx="5753100" cy="3593674"/>
          </a:xfrm>
        </p:grpSpPr>
        <p:sp>
          <p:nvSpPr>
            <p:cNvPr id="16" name="AutoShape 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113915"/>
              <a:ext cx="5753100" cy="1492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>
                  <a:solidFill>
                    <a:srgbClr val="ECF0F1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Calculates the residue error, enhancing precision by analyzing differences in the estimated values.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14046"/>
              <a:ext cx="5753100" cy="1128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Divided Difference for Error Calculation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12B30E1-836C-FF04-B8D0-133E443F5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5" y="3037920"/>
            <a:ext cx="3020060" cy="21056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41625" y="254819"/>
            <a:ext cx="6508750" cy="2786350"/>
            <a:chOff x="4794250" y="-1573162"/>
            <a:chExt cx="13017500" cy="5572700"/>
          </a:xfrm>
        </p:grpSpPr>
        <p:sp>
          <p:nvSpPr>
            <p:cNvPr id="3" name="TextBox 3"/>
            <p:cNvSpPr txBox="1"/>
            <p:nvPr/>
          </p:nvSpPr>
          <p:spPr>
            <a:xfrm>
              <a:off x="4794250" y="-1573162"/>
              <a:ext cx="13017500" cy="2786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666" b="0" i="0" u="none" strike="noStrike" kern="1200" cap="none" spc="-93" normalizeH="0" baseline="0" noProof="0" dirty="0">
                  <a:ln>
                    <a:noFill/>
                  </a:ln>
                  <a:solidFill>
                    <a:srgbClr val="4A4A4A"/>
                  </a:solidFill>
                  <a:effectLst/>
                  <a:uLnTx/>
                  <a:uFillTx/>
                  <a:latin typeface="Tenor Sans"/>
                  <a:ea typeface="Tenor Sans"/>
                  <a:cs typeface="Tenor Sans"/>
                  <a:sym typeface="Tenor Sans"/>
                </a:rPr>
                <a:t>Theory and Algorithms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794250" y="1554722"/>
              <a:ext cx="13017500" cy="516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24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6C757D"/>
                  </a:solidFill>
                  <a:effectLst/>
                  <a:uLnTx/>
                  <a:uFillTx/>
                  <a:latin typeface="Clear Sans Medium"/>
                  <a:ea typeface="Clear Sans Medium"/>
                  <a:cs typeface="Clear Sans Medium"/>
                  <a:sym typeface="Clear Sans Medium"/>
                </a:rPr>
                <a:t>SEE README.md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794250" y="3020166"/>
              <a:ext cx="13017500" cy="979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19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99" b="0" i="0" u="none" strike="noStrike" kern="1200" cap="none" spc="0" normalizeH="0" baseline="0" noProof="0" dirty="0">
                  <a:ln>
                    <a:noFill/>
                  </a:ln>
                  <a:solidFill>
                    <a:srgbClr val="4A4A4A"/>
                  </a:solidFill>
                  <a:effectLst/>
                  <a:uLnTx/>
                  <a:uFillTx/>
                  <a:latin typeface="Clear Sans"/>
                  <a:ea typeface="Clear Sans"/>
                  <a:cs typeface="Clear Sans"/>
                  <a:sym typeface="Clear Sans"/>
                </a:rPr>
                <a:t>The brief theory and algorithm for the methods implemented is included in the README.md.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F142C8C-7E9C-0FD6-6202-AAF7A1E47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25" y="3515615"/>
            <a:ext cx="3237637" cy="17222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C143-1A57-10F2-FE17-1EBECD7AB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00" y="883285"/>
            <a:ext cx="8864600" cy="1325563"/>
          </a:xfrm>
        </p:spPr>
        <p:txBody>
          <a:bodyPr/>
          <a:lstStyle/>
          <a:p>
            <a:r>
              <a:rPr lang="en-US" b="1" dirty="0"/>
              <a:t>Thank You for Your Attention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85661-A95C-46FC-8276-89C468661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2646364"/>
            <a:ext cx="10515600" cy="11887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will now hand over to 2207009, who will explain the next steps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431307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46D3-FD68-DF9E-483B-75F192523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29A8B3-61EB-D3E1-DDB4-6F43C92ACA49}"/>
              </a:ext>
            </a:extLst>
          </p:cNvPr>
          <p:cNvGrpSpPr/>
          <p:nvPr/>
        </p:nvGrpSpPr>
        <p:grpSpPr>
          <a:xfrm>
            <a:off x="6197600" y="0"/>
            <a:ext cx="5994400" cy="6858000"/>
            <a:chOff x="0" y="0"/>
            <a:chExt cx="1393034" cy="159372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E109B21-1C0E-57A3-FDF1-1FAC1E9A670F}"/>
                </a:ext>
              </a:extLst>
            </p:cNvPr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219B3EC4-5FC9-8936-67F6-3E8AA841A507}"/>
              </a:ext>
            </a:extLst>
          </p:cNvPr>
          <p:cNvGrpSpPr/>
          <p:nvPr/>
        </p:nvGrpSpPr>
        <p:grpSpPr>
          <a:xfrm>
            <a:off x="254000" y="482601"/>
            <a:ext cx="6522720" cy="4788465"/>
            <a:chOff x="-381000" y="-3876038"/>
            <a:chExt cx="13045440" cy="9576931"/>
          </a:xfrm>
        </p:grpSpPr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D1E36D7D-B987-3412-A51B-6654449BB1AA}"/>
                </a:ext>
              </a:extLst>
            </p:cNvPr>
            <p:cNvSpPr txBox="1"/>
            <p:nvPr/>
          </p:nvSpPr>
          <p:spPr>
            <a:xfrm>
              <a:off x="-218440" y="4008121"/>
              <a:ext cx="10871200" cy="16927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Name: Md Istiaque Ahmed Asif</a:t>
              </a:r>
            </a:p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Roll: 2207009</a:t>
              </a:r>
            </a:p>
            <a:p>
              <a:pPr>
                <a:lnSpc>
                  <a:spcPts val="2239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4A4A4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Role: Implementation &amp; README.md template</a:t>
              </a: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3837AE41-C2EC-6CCA-5C7C-0C2432CDB8AE}"/>
                </a:ext>
              </a:extLst>
            </p:cNvPr>
            <p:cNvSpPr txBox="1"/>
            <p:nvPr/>
          </p:nvSpPr>
          <p:spPr>
            <a:xfrm>
              <a:off x="-381000" y="-3876038"/>
              <a:ext cx="13045440" cy="7386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9600" spc="-192" dirty="0">
                  <a:solidFill>
                    <a:srgbClr val="1A73E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Numerical Methods Project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076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F74203-0F51-9AD0-0AF1-D447A7785247}"/>
              </a:ext>
            </a:extLst>
          </p:cNvPr>
          <p:cNvCxnSpPr/>
          <p:nvPr/>
        </p:nvCxnSpPr>
        <p:spPr>
          <a:xfrm flipV="1">
            <a:off x="2098638" y="2446320"/>
            <a:ext cx="609600" cy="764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A306EB-442C-28EA-292A-2AD1B052897C}"/>
              </a:ext>
            </a:extLst>
          </p:cNvPr>
          <p:cNvCxnSpPr/>
          <p:nvPr/>
        </p:nvCxnSpPr>
        <p:spPr>
          <a:xfrm>
            <a:off x="3134721" y="2438176"/>
            <a:ext cx="623072" cy="780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">
            <a:extLst>
              <a:ext uri="{FF2B5EF4-FFF2-40B4-BE49-F238E27FC236}">
                <a16:creationId xmlns:a16="http://schemas.microsoft.com/office/drawing/2014/main" id="{3392CA07-C6CF-5FC2-845B-493E30B03625}"/>
              </a:ext>
            </a:extLst>
          </p:cNvPr>
          <p:cNvGrpSpPr/>
          <p:nvPr/>
        </p:nvGrpSpPr>
        <p:grpSpPr>
          <a:xfrm>
            <a:off x="6136642" y="298097"/>
            <a:ext cx="5549900" cy="1896364"/>
            <a:chOff x="0" y="171450"/>
            <a:chExt cx="11099800" cy="3792728"/>
          </a:xfrm>
        </p:grpSpPr>
        <p:sp>
          <p:nvSpPr>
            <p:cNvPr id="27" name="TextBox 3">
              <a:extLst>
                <a:ext uri="{FF2B5EF4-FFF2-40B4-BE49-F238E27FC236}">
                  <a16:creationId xmlns:a16="http://schemas.microsoft.com/office/drawing/2014/main" id="{D26F6C60-7B90-5FC8-7D04-B424D56C096D}"/>
                </a:ext>
              </a:extLst>
            </p:cNvPr>
            <p:cNvSpPr txBox="1"/>
            <p:nvPr/>
          </p:nvSpPr>
          <p:spPr>
            <a:xfrm>
              <a:off x="0" y="3328620"/>
              <a:ext cx="11099800" cy="635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endParaRPr lang="en-US" sz="2000" dirty="0">
                <a:solidFill>
                  <a:srgbClr val="2C3E50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02725786-7D34-992D-F45F-51B4C2A80826}"/>
                </a:ext>
              </a:extLst>
            </p:cNvPr>
            <p:cNvSpPr txBox="1"/>
            <p:nvPr/>
          </p:nvSpPr>
          <p:spPr>
            <a:xfrm>
              <a:off x="0" y="171450"/>
              <a:ext cx="11099800" cy="1532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866"/>
                </a:lnSpc>
              </a:pPr>
              <a:endParaRPr lang="en-US" sz="5866" dirty="0">
                <a:solidFill>
                  <a:srgbClr val="2C3E50"/>
                </a:solidFill>
                <a:latin typeface="Gilda Display"/>
                <a:ea typeface="Gilda Display"/>
                <a:cs typeface="Gilda Display"/>
                <a:sym typeface="Gilda Display"/>
              </a:endParaRPr>
            </a:p>
          </p:txBody>
        </p:sp>
      </p:grpSp>
      <p:pic>
        <p:nvPicPr>
          <p:cNvPr id="31" name="Picture 2">
            <a:extLst>
              <a:ext uri="{FF2B5EF4-FFF2-40B4-BE49-F238E27FC236}">
                <a16:creationId xmlns:a16="http://schemas.microsoft.com/office/drawing/2014/main" id="{E2C36CCC-15F7-250F-D948-D65319FC2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27" y="969818"/>
            <a:ext cx="5771388" cy="171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318BD6-480B-71BA-FD10-4D80748C1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14" y="3367366"/>
            <a:ext cx="1064724" cy="2273329"/>
          </a:xfrm>
          <a:prstGeom prst="rect">
            <a:avLst/>
          </a:prstGeom>
        </p:spPr>
      </p:pic>
      <p:pic>
        <p:nvPicPr>
          <p:cNvPr id="35" name="Picture 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B7C5D6-7AFF-E676-C2ED-8E231FD9F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257" y="3367366"/>
            <a:ext cx="2649743" cy="3056145"/>
          </a:xfrm>
          <a:prstGeom prst="rect">
            <a:avLst/>
          </a:prstGeom>
        </p:spPr>
      </p:pic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049765-40CE-8E3F-397E-2255E82890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181" y="2584676"/>
            <a:ext cx="3107655" cy="1251576"/>
          </a:xfrm>
          <a:prstGeom prst="rect">
            <a:avLst/>
          </a:prstGeom>
        </p:spPr>
      </p:pic>
      <p:pic>
        <p:nvPicPr>
          <p:cNvPr id="39" name="Picture 3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8580A87-3595-D811-7EA1-FD12FA52BE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181" y="4180960"/>
            <a:ext cx="3107655" cy="2242551"/>
          </a:xfrm>
          <a:prstGeom prst="rect">
            <a:avLst/>
          </a:prstGeom>
        </p:spPr>
      </p:pic>
      <p:grpSp>
        <p:nvGrpSpPr>
          <p:cNvPr id="40" name="Group 2">
            <a:extLst>
              <a:ext uri="{FF2B5EF4-FFF2-40B4-BE49-F238E27FC236}">
                <a16:creationId xmlns:a16="http://schemas.microsoft.com/office/drawing/2014/main" id="{C1B3EAA6-89A0-059A-220E-B11034D07468}"/>
              </a:ext>
            </a:extLst>
          </p:cNvPr>
          <p:cNvGrpSpPr/>
          <p:nvPr/>
        </p:nvGrpSpPr>
        <p:grpSpPr>
          <a:xfrm>
            <a:off x="6437050" y="205975"/>
            <a:ext cx="6150961" cy="2183593"/>
            <a:chOff x="528449" y="-319827"/>
            <a:chExt cx="12244526" cy="4694474"/>
          </a:xfrm>
        </p:grpSpPr>
        <p:sp>
          <p:nvSpPr>
            <p:cNvPr id="41" name="TextBox 3">
              <a:extLst>
                <a:ext uri="{FF2B5EF4-FFF2-40B4-BE49-F238E27FC236}">
                  <a16:creationId xmlns:a16="http://schemas.microsoft.com/office/drawing/2014/main" id="{375EE5FF-30C3-0E1D-9688-4364241A5771}"/>
                </a:ext>
              </a:extLst>
            </p:cNvPr>
            <p:cNvSpPr txBox="1"/>
            <p:nvPr/>
          </p:nvSpPr>
          <p:spPr>
            <a:xfrm>
              <a:off x="528449" y="3069162"/>
              <a:ext cx="11099800" cy="1305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US" sz="2000" dirty="0"/>
                <a:t>All input and output formats for the implemented modules are documented in the </a:t>
              </a:r>
              <a:r>
                <a:rPr lang="en-US" dirty="0"/>
                <a:t>README.md</a:t>
              </a:r>
              <a:r>
                <a:rPr lang="en-US" sz="2000" dirty="0"/>
                <a:t> file.</a:t>
              </a:r>
              <a:endParaRPr lang="en-US" sz="2000" dirty="0">
                <a:solidFill>
                  <a:srgbClr val="2C3E50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42" name="TextBox 4">
              <a:extLst>
                <a:ext uri="{FF2B5EF4-FFF2-40B4-BE49-F238E27FC236}">
                  <a16:creationId xmlns:a16="http://schemas.microsoft.com/office/drawing/2014/main" id="{58EEB42D-F048-E561-2980-55F22F7F3A01}"/>
                </a:ext>
              </a:extLst>
            </p:cNvPr>
            <p:cNvSpPr txBox="1"/>
            <p:nvPr/>
          </p:nvSpPr>
          <p:spPr>
            <a:xfrm>
              <a:off x="1673175" y="-319827"/>
              <a:ext cx="11099800" cy="3045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866"/>
                </a:lnSpc>
              </a:pPr>
              <a:r>
                <a:rPr lang="en-US" sz="5866" dirty="0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I/O Format In README.md</a:t>
              </a:r>
            </a:p>
          </p:txBody>
        </p:sp>
      </p:grpSp>
      <p:sp>
        <p:nvSpPr>
          <p:cNvPr id="43" name="TextBox 4">
            <a:extLst>
              <a:ext uri="{FF2B5EF4-FFF2-40B4-BE49-F238E27FC236}">
                <a16:creationId xmlns:a16="http://schemas.microsoft.com/office/drawing/2014/main" id="{5C31FF76-0141-3C6C-5E53-BABED085471B}"/>
              </a:ext>
            </a:extLst>
          </p:cNvPr>
          <p:cNvSpPr txBox="1"/>
          <p:nvPr/>
        </p:nvSpPr>
        <p:spPr>
          <a:xfrm>
            <a:off x="1338714" y="166026"/>
            <a:ext cx="5549900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66"/>
              </a:lnSpc>
            </a:pPr>
            <a:r>
              <a:rPr lang="en-US" sz="5866" dirty="0">
                <a:solidFill>
                  <a:srgbClr val="2C3E50"/>
                </a:solidFill>
                <a:latin typeface="Gilda Display"/>
                <a:ea typeface="Gilda Display"/>
                <a:cs typeface="Gilda Display"/>
                <a:sym typeface="Gilda Display"/>
              </a:rPr>
              <a:t>Coding Focus</a:t>
            </a:r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E70BAD40-6484-2FE1-EBC5-6971417DBE83}"/>
              </a:ext>
            </a:extLst>
          </p:cNvPr>
          <p:cNvSpPr txBox="1"/>
          <p:nvPr/>
        </p:nvSpPr>
        <p:spPr>
          <a:xfrm>
            <a:off x="678833" y="630175"/>
            <a:ext cx="5549900" cy="63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66"/>
              </a:lnSpc>
            </a:pPr>
            <a:r>
              <a:rPr lang="en-US" sz="2000" dirty="0">
                <a:solidFill>
                  <a:srgbClr val="2C3E5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 have Implemented file based I/O for each methods</a:t>
            </a:r>
            <a:r>
              <a:rPr lang="en-US" sz="2000" dirty="0"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826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46FEC919-D2E8-0243-ACD3-38E04075132F}"/>
              </a:ext>
            </a:extLst>
          </p:cNvPr>
          <p:cNvSpPr txBox="1"/>
          <p:nvPr/>
        </p:nvSpPr>
        <p:spPr>
          <a:xfrm>
            <a:off x="444500" y="482600"/>
            <a:ext cx="3835400" cy="203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280"/>
              </a:lnSpc>
              <a:spcBef>
                <a:spcPct val="0"/>
              </a:spcBef>
            </a:pPr>
            <a:r>
              <a:rPr lang="en-US" sz="480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Numerical Methods that I Implemeted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E00EDFF0-E61D-D18F-2086-72691DDA918D}"/>
              </a:ext>
            </a:extLst>
          </p:cNvPr>
          <p:cNvGrpSpPr/>
          <p:nvPr/>
        </p:nvGrpSpPr>
        <p:grpSpPr>
          <a:xfrm>
            <a:off x="5238750" y="444500"/>
            <a:ext cx="2876550" cy="2200401"/>
            <a:chOff x="0" y="12700"/>
            <a:chExt cx="5753100" cy="4400799"/>
          </a:xfrm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2DDF2985-E815-356C-3CD8-1E633A56CF67}"/>
                </a:ext>
              </a:extLst>
            </p:cNvPr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72F5CB5F-F88E-1C61-4BE5-31618B5CA325}"/>
                </a:ext>
              </a:extLst>
            </p:cNvPr>
            <p:cNvSpPr txBox="1"/>
            <p:nvPr/>
          </p:nvSpPr>
          <p:spPr>
            <a:xfrm>
              <a:off x="0" y="1878449"/>
              <a:ext cx="5753100" cy="2535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chemeClr val="bg1"/>
                  </a:solidFill>
                </a:rPr>
                <a:t>It solves a system of linear equations by converting the equations into an upper triangular matrix and then finding the unknowns using back substitution.</a:t>
              </a:r>
              <a:endParaRPr lang="en-US" sz="1400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C2749AEA-824B-3DEE-BCD8-8CE9EDFD9A3F}"/>
                </a:ext>
              </a:extLst>
            </p:cNvPr>
            <p:cNvSpPr txBox="1"/>
            <p:nvPr/>
          </p:nvSpPr>
          <p:spPr>
            <a:xfrm>
              <a:off x="0" y="614046"/>
              <a:ext cx="5753100" cy="1131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Gauss Elimination Method</a:t>
              </a:r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9A17D6B1-A216-B2EC-7C93-8BBC88579535}"/>
              </a:ext>
            </a:extLst>
          </p:cNvPr>
          <p:cNvGrpSpPr/>
          <p:nvPr/>
        </p:nvGrpSpPr>
        <p:grpSpPr>
          <a:xfrm>
            <a:off x="8870950" y="444500"/>
            <a:ext cx="2876550" cy="2200401"/>
            <a:chOff x="0" y="12700"/>
            <a:chExt cx="5753100" cy="4400799"/>
          </a:xfrm>
        </p:grpSpPr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02EFDC8B-5905-E0F1-735B-D94EAAA67EA7}"/>
                </a:ext>
              </a:extLst>
            </p:cNvPr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E8CB23E4-8404-AA30-E31A-7B431455849F}"/>
                </a:ext>
              </a:extLst>
            </p:cNvPr>
            <p:cNvSpPr txBox="1"/>
            <p:nvPr/>
          </p:nvSpPr>
          <p:spPr>
            <a:xfrm>
              <a:off x="0" y="1878449"/>
              <a:ext cx="5753100" cy="2535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chemeClr val="bg1"/>
                  </a:solidFill>
                </a:rPr>
                <a:t>It solves a system of linear equations by transforming the matrix into reduced row-echelon form so that the solution is obtained directly without back substitution.</a:t>
              </a:r>
              <a:endParaRPr lang="en-US" sz="1400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08CE4179-95BF-BC3F-101B-B4EB53D12BF9}"/>
                </a:ext>
              </a:extLst>
            </p:cNvPr>
            <p:cNvSpPr txBox="1"/>
            <p:nvPr/>
          </p:nvSpPr>
          <p:spPr>
            <a:xfrm>
              <a:off x="0" y="614046"/>
              <a:ext cx="5753100" cy="1131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Gauss Jordan Elimination Method</a:t>
              </a: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E0FE7C7F-D272-9074-E253-C53057589216}"/>
              </a:ext>
            </a:extLst>
          </p:cNvPr>
          <p:cNvGrpSpPr/>
          <p:nvPr/>
        </p:nvGrpSpPr>
        <p:grpSpPr>
          <a:xfrm>
            <a:off x="5238750" y="3429000"/>
            <a:ext cx="2876550" cy="1782254"/>
            <a:chOff x="0" y="12700"/>
            <a:chExt cx="5753100" cy="3564506"/>
          </a:xfrm>
        </p:grpSpPr>
        <p:sp>
          <p:nvSpPr>
            <p:cNvPr id="14" name="AutoShape 12">
              <a:extLst>
                <a:ext uri="{FF2B5EF4-FFF2-40B4-BE49-F238E27FC236}">
                  <a16:creationId xmlns:a16="http://schemas.microsoft.com/office/drawing/2014/main" id="{CBFB83FA-8B21-E0EA-3CF7-2BE641BBA63D}"/>
                </a:ext>
              </a:extLst>
            </p:cNvPr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5ABE9100-DC81-4EBC-A0AA-EA66F9E18454}"/>
                </a:ext>
              </a:extLst>
            </p:cNvPr>
            <p:cNvSpPr txBox="1"/>
            <p:nvPr/>
          </p:nvSpPr>
          <p:spPr>
            <a:xfrm>
              <a:off x="0" y="1555115"/>
              <a:ext cx="5753100" cy="2022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chemeClr val="bg1"/>
                  </a:solidFill>
                </a:rPr>
                <a:t>It solves a system of linear equations by finding the inverse of the coefficient matrix and multiplying it with the constant matrix.</a:t>
              </a:r>
              <a:endParaRPr lang="en-US" sz="1400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9537738C-363A-A68F-3FB6-1A61A8B32028}"/>
                </a:ext>
              </a:extLst>
            </p:cNvPr>
            <p:cNvSpPr txBox="1"/>
            <p:nvPr/>
          </p:nvSpPr>
          <p:spPr>
            <a:xfrm>
              <a:off x="0" y="614046"/>
              <a:ext cx="57531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Matrix Inversion Method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151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C74E036-2D87-CFB8-1D80-9C69C1E47CD3}"/>
              </a:ext>
            </a:extLst>
          </p:cNvPr>
          <p:cNvSpPr txBox="1"/>
          <p:nvPr/>
        </p:nvSpPr>
        <p:spPr>
          <a:xfrm>
            <a:off x="444500" y="482600"/>
            <a:ext cx="4038600" cy="2039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5280"/>
              </a:lnSpc>
              <a:spcBef>
                <a:spcPct val="0"/>
              </a:spcBef>
            </a:pPr>
            <a:r>
              <a:rPr lang="en-US" sz="4800" dirty="0">
                <a:solidFill>
                  <a:srgbClr val="ECF0F1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Numerical Methods that I Implemented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A7FD635-34A5-B046-12AC-4FDC3BF0ACAE}"/>
              </a:ext>
            </a:extLst>
          </p:cNvPr>
          <p:cNvGrpSpPr/>
          <p:nvPr/>
        </p:nvGrpSpPr>
        <p:grpSpPr>
          <a:xfrm>
            <a:off x="5238750" y="444500"/>
            <a:ext cx="2876550" cy="1954974"/>
            <a:chOff x="0" y="12700"/>
            <a:chExt cx="5753100" cy="3909946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A6F9D9D4-FD62-FBFD-64CA-F45E5A669E47}"/>
                </a:ext>
              </a:extLst>
            </p:cNvPr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0D317F8-E643-5659-12AE-9659A171C315}"/>
                </a:ext>
              </a:extLst>
            </p:cNvPr>
            <p:cNvSpPr txBox="1"/>
            <p:nvPr/>
          </p:nvSpPr>
          <p:spPr>
            <a:xfrm>
              <a:off x="0" y="1900555"/>
              <a:ext cx="5753100" cy="2022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chemeClr val="bg1"/>
                  </a:solidFill>
                </a:rPr>
                <a:t>It determines the best-fit straight line for the given data using the least square regression to minimize the total error.</a:t>
              </a:r>
              <a:endParaRPr lang="en-US" sz="1400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0F6CA5A-FE17-5987-6163-D18C3E2AD885}"/>
                </a:ext>
              </a:extLst>
            </p:cNvPr>
            <p:cNvSpPr txBox="1"/>
            <p:nvPr/>
          </p:nvSpPr>
          <p:spPr>
            <a:xfrm>
              <a:off x="0" y="614046"/>
              <a:ext cx="5753100" cy="567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Linear Equation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3F1F58E-B57D-11BC-C0F9-8432F6390586}"/>
              </a:ext>
            </a:extLst>
          </p:cNvPr>
          <p:cNvGrpSpPr/>
          <p:nvPr/>
        </p:nvGrpSpPr>
        <p:grpSpPr>
          <a:xfrm>
            <a:off x="8870950" y="444500"/>
            <a:ext cx="2876550" cy="1954974"/>
            <a:chOff x="0" y="12700"/>
            <a:chExt cx="5753100" cy="3909946"/>
          </a:xfrm>
        </p:grpSpPr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7F86BBF2-845F-2793-C0AD-448ED8EC5EE0}"/>
                </a:ext>
              </a:extLst>
            </p:cNvPr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081CC2A-E4A6-54BE-315E-767B4FC2EB72}"/>
                </a:ext>
              </a:extLst>
            </p:cNvPr>
            <p:cNvSpPr txBox="1"/>
            <p:nvPr/>
          </p:nvSpPr>
          <p:spPr>
            <a:xfrm>
              <a:off x="0" y="1900555"/>
              <a:ext cx="5753100" cy="2022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chemeClr val="bg1"/>
                  </a:solidFill>
                </a:rPr>
                <a:t>It fits exponential, logarithmic, or power curves by converting them into a linear form and applying the least square regression.</a:t>
              </a:r>
              <a:endParaRPr lang="en-US" sz="1400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6582CFF-FE67-9728-FFED-3181C036A936}"/>
                </a:ext>
              </a:extLst>
            </p:cNvPr>
            <p:cNvSpPr txBox="1"/>
            <p:nvPr/>
          </p:nvSpPr>
          <p:spPr>
            <a:xfrm>
              <a:off x="0" y="614046"/>
              <a:ext cx="5753100" cy="567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Transcendental Equation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7B3B27D-17DF-BD49-0494-C9C8EC22A9D9}"/>
              </a:ext>
            </a:extLst>
          </p:cNvPr>
          <p:cNvGrpSpPr/>
          <p:nvPr/>
        </p:nvGrpSpPr>
        <p:grpSpPr>
          <a:xfrm>
            <a:off x="5238750" y="3429000"/>
            <a:ext cx="2876550" cy="2235835"/>
            <a:chOff x="0" y="12700"/>
            <a:chExt cx="5753100" cy="4471667"/>
          </a:xfrm>
        </p:grpSpPr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77BD2D6C-33EE-217A-79B4-641EC4D2D14E}"/>
                </a:ext>
              </a:extLst>
            </p:cNvPr>
            <p:cNvSpPr/>
            <p:nvPr/>
          </p:nvSpPr>
          <p:spPr>
            <a:xfrm flipV="1">
              <a:off x="0" y="12700"/>
              <a:ext cx="5753100" cy="0"/>
            </a:xfrm>
            <a:prstGeom prst="line">
              <a:avLst/>
            </a:prstGeom>
            <a:ln w="25400" cap="flat">
              <a:solidFill>
                <a:srgbClr val="ECF0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544D51E-AF81-8C6D-8EA0-6C5D22231AE7}"/>
                </a:ext>
              </a:extLst>
            </p:cNvPr>
            <p:cNvSpPr txBox="1"/>
            <p:nvPr/>
          </p:nvSpPr>
          <p:spPr>
            <a:xfrm>
              <a:off x="0" y="1949317"/>
              <a:ext cx="5753100" cy="2535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60"/>
                </a:lnSpc>
              </a:pPr>
              <a:r>
                <a:rPr lang="en-US" sz="1400" dirty="0">
                  <a:solidFill>
                    <a:schemeClr val="bg1"/>
                  </a:solidFill>
                </a:rPr>
                <a:t>It fits a polynomial curve for the given data by using the least square regression to minimize the squared differences between actual and calculated values.</a:t>
              </a:r>
              <a:endParaRPr lang="en-US" sz="1400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4995F6F-7C44-CB8F-72A3-FA61E836CE7C}"/>
                </a:ext>
              </a:extLst>
            </p:cNvPr>
            <p:cNvSpPr txBox="1"/>
            <p:nvPr/>
          </p:nvSpPr>
          <p:spPr>
            <a:xfrm>
              <a:off x="0" y="584966"/>
              <a:ext cx="5753100" cy="567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240"/>
                </a:lnSpc>
              </a:pPr>
              <a:r>
                <a:rPr lang="en-US" sz="2133" dirty="0">
                  <a:solidFill>
                    <a:srgbClr val="ECF0F1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Polynomial Equation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F29486C-F512-9A74-B7D1-27135B5644FE}"/>
              </a:ext>
            </a:extLst>
          </p:cNvPr>
          <p:cNvSpPr txBox="1"/>
          <p:nvPr/>
        </p:nvSpPr>
        <p:spPr>
          <a:xfrm>
            <a:off x="444499" y="3176524"/>
            <a:ext cx="38319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Curve Fitting: Regression</a:t>
            </a:r>
          </a:p>
        </p:txBody>
      </p:sp>
    </p:spTree>
    <p:extLst>
      <p:ext uri="{BB962C8B-B14F-4D97-AF65-F5344CB8AC3E}">
        <p14:creationId xmlns:p14="http://schemas.microsoft.com/office/powerpoint/2010/main" val="365061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0335" y="352372"/>
            <a:ext cx="7327900" cy="732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3200" dirty="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Table of Contents &amp; Hyperlinking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44500" y="1793267"/>
            <a:ext cx="3632200" cy="984607"/>
            <a:chOff x="0" y="19051"/>
            <a:chExt cx="7264400" cy="1969212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 dirty="0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Navigation Menu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5674"/>
              <a:ext cx="7264400" cy="1032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 dirty="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The Table of Contents serves as a navigation menu.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96000" y="1793267"/>
            <a:ext cx="3632200" cy="991969"/>
            <a:chOff x="0" y="19051"/>
            <a:chExt cx="7264400" cy="1983938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 dirty="0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Clickable Hyperlinks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70399"/>
              <a:ext cx="7264400" cy="103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 dirty="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Each item is a clickable hyperlink referencing sections.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4500" y="4640016"/>
            <a:ext cx="3632200" cy="984607"/>
            <a:chOff x="0" y="19051"/>
            <a:chExt cx="7264400" cy="196921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Direct Navigation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5674"/>
              <a:ext cx="7264400" cy="1032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Clicking "Gauss Elimination Method" jumps to its section.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3DC76D4-95EA-B50C-0821-3F8F7DB87F82}"/>
              </a:ext>
            </a:extLst>
          </p:cNvPr>
          <p:cNvSpPr txBox="1"/>
          <p:nvPr/>
        </p:nvSpPr>
        <p:spPr>
          <a:xfrm>
            <a:off x="223520" y="224821"/>
            <a:ext cx="7706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6400" dirty="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README.md:</a:t>
            </a:r>
          </a:p>
        </p:txBody>
      </p:sp>
      <p:pic>
        <p:nvPicPr>
          <p:cNvPr id="10" name="Picture 9" descr="A black and yellow text with white text&#10;&#10;AI-generated content may be incorrect.">
            <a:extLst>
              <a:ext uri="{FF2B5EF4-FFF2-40B4-BE49-F238E27FC236}">
                <a16:creationId xmlns:a16="http://schemas.microsoft.com/office/drawing/2014/main" id="{C92C3AFC-E32C-BA1F-B792-7F95EBEE1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182" y="1723203"/>
            <a:ext cx="2296521" cy="1705797"/>
          </a:xfrm>
          <a:prstGeom prst="rect">
            <a:avLst/>
          </a:prstGeom>
        </p:spPr>
      </p:pic>
      <p:pic>
        <p:nvPicPr>
          <p:cNvPr id="18" name="Picture 17" descr="A black and yellow text with white text&#10;&#10;AI-generated content may be incorrect.">
            <a:extLst>
              <a:ext uri="{FF2B5EF4-FFF2-40B4-BE49-F238E27FC236}">
                <a16:creationId xmlns:a16="http://schemas.microsoft.com/office/drawing/2014/main" id="{68FFDD5D-84D7-8B4F-F40B-55C6DBCCA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134" y="1723203"/>
            <a:ext cx="2781688" cy="1800476"/>
          </a:xfrm>
          <a:prstGeom prst="rect">
            <a:avLst/>
          </a:prstGeom>
        </p:spPr>
      </p:pic>
      <p:pic>
        <p:nvPicPr>
          <p:cNvPr id="21" name="Picture 20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73705968-F9FF-4914-F4E7-3757DD631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634" y="4313816"/>
            <a:ext cx="2616586" cy="17057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500" y="495300"/>
            <a:ext cx="7467600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6000" dirty="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Section Structure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44500" y="2127533"/>
            <a:ext cx="3632200" cy="984607"/>
            <a:chOff x="0" y="19051"/>
            <a:chExt cx="7264400" cy="1969212"/>
          </a:xfrm>
        </p:grpSpPr>
        <p:sp>
          <p:nvSpPr>
            <p:cNvPr id="4" name="TextBox 4"/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Theory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5674"/>
              <a:ext cx="7264400" cy="1032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Explains the working principle of each numerical method clearly.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96000" y="2133225"/>
            <a:ext cx="3632200" cy="991969"/>
            <a:chOff x="0" y="19051"/>
            <a:chExt cx="7264400" cy="1983938"/>
          </a:xfrm>
        </p:grpSpPr>
        <p:sp>
          <p:nvSpPr>
            <p:cNvPr id="7" name="TextBox 7"/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Code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70399"/>
              <a:ext cx="7264400" cy="103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 dirty="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Shows the program implementation of the method.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" y="3591808"/>
            <a:ext cx="3632200" cy="715304"/>
            <a:chOff x="0" y="19050"/>
            <a:chExt cx="7264400" cy="143060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9050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 dirty="0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Input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5676"/>
              <a:ext cx="7264400" cy="4939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 dirty="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Shows the input given by the user.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85840" y="3511240"/>
            <a:ext cx="3632200" cy="991969"/>
            <a:chOff x="0" y="19051"/>
            <a:chExt cx="7264400" cy="198393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 dirty="0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Output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70399"/>
              <a:ext cx="7264400" cy="1032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 dirty="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Displays results produced by the program for verification.</a:t>
              </a:r>
            </a:p>
          </p:txBody>
        </p:sp>
      </p:grpSp>
      <p:grpSp>
        <p:nvGrpSpPr>
          <p:cNvPr id="19" name="Group 12">
            <a:extLst>
              <a:ext uri="{FF2B5EF4-FFF2-40B4-BE49-F238E27FC236}">
                <a16:creationId xmlns:a16="http://schemas.microsoft.com/office/drawing/2014/main" id="{8B90B32B-B0E5-A25D-219C-627333EF5300}"/>
              </a:ext>
            </a:extLst>
          </p:cNvPr>
          <p:cNvGrpSpPr/>
          <p:nvPr/>
        </p:nvGrpSpPr>
        <p:grpSpPr>
          <a:xfrm>
            <a:off x="444500" y="4870204"/>
            <a:ext cx="3632200" cy="984607"/>
            <a:chOff x="0" y="19051"/>
            <a:chExt cx="7264400" cy="1969212"/>
          </a:xfrm>
        </p:grpSpPr>
        <p:sp>
          <p:nvSpPr>
            <p:cNvPr id="20" name="TextBox 13">
              <a:extLst>
                <a:ext uri="{FF2B5EF4-FFF2-40B4-BE49-F238E27FC236}">
                  <a16:creationId xmlns:a16="http://schemas.microsoft.com/office/drawing/2014/main" id="{FF29942D-2AA6-A17D-4657-EAE1D07EC90F}"/>
                </a:ext>
              </a:extLst>
            </p:cNvPr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 dirty="0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Input Format</a:t>
              </a:r>
            </a:p>
          </p:txBody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AC4B5CD3-04C4-6C5F-D550-05E94C0D1E6F}"/>
                </a:ext>
              </a:extLst>
            </p:cNvPr>
            <p:cNvSpPr txBox="1"/>
            <p:nvPr/>
          </p:nvSpPr>
          <p:spPr>
            <a:xfrm>
              <a:off x="0" y="955674"/>
              <a:ext cx="7264400" cy="1032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 dirty="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Describes the input format, providing clarity for users.</a:t>
              </a:r>
            </a:p>
          </p:txBody>
        </p:sp>
      </p:grpSp>
      <p:grpSp>
        <p:nvGrpSpPr>
          <p:cNvPr id="22" name="Group 15">
            <a:extLst>
              <a:ext uri="{FF2B5EF4-FFF2-40B4-BE49-F238E27FC236}">
                <a16:creationId xmlns:a16="http://schemas.microsoft.com/office/drawing/2014/main" id="{4002422E-010D-792C-2E93-3E6E59E6FC7F}"/>
              </a:ext>
            </a:extLst>
          </p:cNvPr>
          <p:cNvGrpSpPr/>
          <p:nvPr/>
        </p:nvGrpSpPr>
        <p:grpSpPr>
          <a:xfrm>
            <a:off x="6116320" y="4879729"/>
            <a:ext cx="3632200" cy="991969"/>
            <a:chOff x="0" y="19051"/>
            <a:chExt cx="7264400" cy="1983936"/>
          </a:xfrm>
        </p:grpSpPr>
        <p:sp>
          <p:nvSpPr>
            <p:cNvPr id="23" name="TextBox 16">
              <a:extLst>
                <a:ext uri="{FF2B5EF4-FFF2-40B4-BE49-F238E27FC236}">
                  <a16:creationId xmlns:a16="http://schemas.microsoft.com/office/drawing/2014/main" id="{E3CF4BB3-F4C1-1B8D-93A0-EA8050775CD3}"/>
                </a:ext>
              </a:extLst>
            </p:cNvPr>
            <p:cNvSpPr txBox="1"/>
            <p:nvPr/>
          </p:nvSpPr>
          <p:spPr>
            <a:xfrm>
              <a:off x="0" y="19051"/>
              <a:ext cx="72644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sz="2000" b="1" dirty="0">
                  <a:solidFill>
                    <a:srgbClr val="4B86B4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Output Format</a:t>
              </a:r>
            </a:p>
          </p:txBody>
        </p:sp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736C6462-91F9-80EE-D4C6-FB71AB839C02}"/>
                </a:ext>
              </a:extLst>
            </p:cNvPr>
            <p:cNvSpPr txBox="1"/>
            <p:nvPr/>
          </p:nvSpPr>
          <p:spPr>
            <a:xfrm>
              <a:off x="0" y="970398"/>
              <a:ext cx="7264400" cy="1032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</a:pPr>
              <a:r>
                <a:rPr lang="en-US" sz="1467" dirty="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Describes the output format. Which is expected from the program.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62B668-A67E-D8BC-1FA8-AF7292DDCDD2}"/>
              </a:ext>
            </a:extLst>
          </p:cNvPr>
          <p:cNvSpPr txBox="1"/>
          <p:nvPr/>
        </p:nvSpPr>
        <p:spPr>
          <a:xfrm>
            <a:off x="2967130" y="775504"/>
            <a:ext cx="6257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Project GitHub Repository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F67EF-B448-F6A9-C317-C34151C17582}"/>
              </a:ext>
            </a:extLst>
          </p:cNvPr>
          <p:cNvSpPr txBox="1"/>
          <p:nvPr/>
        </p:nvSpPr>
        <p:spPr>
          <a:xfrm>
            <a:off x="1652844" y="2271529"/>
            <a:ext cx="8886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🔗 </a:t>
            </a:r>
            <a:r>
              <a:rPr lang="en-US" b="1" dirty="0"/>
              <a:t>GitHub Repository Link: </a:t>
            </a:r>
            <a:r>
              <a:rPr lang="en-US" b="1" dirty="0">
                <a:hlinkClick r:id="rId2"/>
              </a:rPr>
              <a:t>https://github.com/Sakib-008/Numerical-Lab-Project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4E7FD-006A-61E4-436F-2FBA5B1C7D0F}"/>
              </a:ext>
            </a:extLst>
          </p:cNvPr>
          <p:cNvSpPr txBox="1"/>
          <p:nvPr/>
        </p:nvSpPr>
        <p:spPr>
          <a:xfrm>
            <a:off x="3048964" y="3429000"/>
            <a:ext cx="60940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49755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</TotalTime>
  <Words>795</Words>
  <Application>Microsoft Office PowerPoint</Application>
  <PresentationFormat>Widescreen</PresentationFormat>
  <Paragraphs>119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Clear Sans</vt:lpstr>
      <vt:lpstr>Clear Sans Medium</vt:lpstr>
      <vt:lpstr>Georgia Pro Condensed Light</vt:lpstr>
      <vt:lpstr>Gilda Display</vt:lpstr>
      <vt:lpstr>HK Grotesk</vt:lpstr>
      <vt:lpstr>HK Grotesk Light</vt:lpstr>
      <vt:lpstr>HK Grotesk Semi-Bold</vt:lpstr>
      <vt:lpstr>Noto Serif Display ExtraCondensed Light</vt:lpstr>
      <vt:lpstr>Raleway</vt:lpstr>
      <vt:lpstr>Raleway Bold</vt:lpstr>
      <vt:lpstr>Tenor Sans</vt:lpstr>
      <vt:lpstr>TT Interphases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Istiaque Ahmed Asif</dc:creator>
  <cp:lastModifiedBy>Sakibul Hasan</cp:lastModifiedBy>
  <cp:revision>18</cp:revision>
  <dcterms:created xsi:type="dcterms:W3CDTF">2025-12-18T18:00:57Z</dcterms:created>
  <dcterms:modified xsi:type="dcterms:W3CDTF">2025-12-20T18:11:12Z</dcterms:modified>
</cp:coreProperties>
</file>